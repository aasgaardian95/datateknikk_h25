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26"/>
  </p:notesMasterIdLst>
  <p:handoutMasterIdLst>
    <p:handoutMasterId r:id="rId27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6" r:id="rId24"/>
    <p:sldId id="277" r:id="rId25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9" autoAdjust="0"/>
    <p:restoredTop sz="84504" autoAdjust="0"/>
  </p:normalViewPr>
  <p:slideViewPr>
    <p:cSldViewPr snapToGrid="0">
      <p:cViewPr varScale="1">
        <p:scale>
          <a:sx n="71" d="100"/>
          <a:sy n="71" d="100"/>
        </p:scale>
        <p:origin x="1168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07.10.2025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07.10.2025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07.10.2025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07.10.2025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07.10.2025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07.10.2025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07.10.2025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07.10.2025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07.10.2025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07.10.2025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07.10.2025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07.10.2025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07.10.2025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Feilsøking av </a:t>
            </a:r>
            <a:r>
              <a:rPr lang="nb-NO" dirty="0" err="1"/>
              <a:t>Arduino</a:t>
            </a:r>
            <a:br>
              <a:rPr lang="nb-NO" dirty="0"/>
            </a:br>
            <a:r>
              <a:rPr lang="nb-NO" sz="2400" dirty="0"/>
              <a:t>Lær hvordan du systematisk finner og løser feil i krets og kode.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07.10.2025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399E-A9BA-4475-BFCE-8A880F623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 av krets og kode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C19B-CE0C-F2A7-AEDA-C53D663C7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b-NO" b="1" dirty="0"/>
          </a:p>
          <a:p>
            <a:pPr marL="0" indent="0">
              <a:buNone/>
            </a:pPr>
            <a:r>
              <a:rPr lang="nb-NO" b="1" dirty="0"/>
              <a:t>Mål:</a:t>
            </a:r>
            <a:endParaRPr lang="nb-NO" dirty="0"/>
          </a:p>
          <a:p>
            <a:r>
              <a:rPr lang="nb-NO" dirty="0"/>
              <a:t>Forstå vanlige feil og hvordan de oppstår</a:t>
            </a:r>
          </a:p>
          <a:p>
            <a:r>
              <a:rPr lang="nb-NO" dirty="0"/>
              <a:t>Lære en systematisk fremgangsmåte for feilsøking</a:t>
            </a:r>
          </a:p>
          <a:p>
            <a:r>
              <a:rPr lang="nb-NO" dirty="0"/>
              <a:t>Bli tryggere på å bruke serielogging og tester</a:t>
            </a:r>
          </a:p>
          <a:p>
            <a:endParaRPr lang="nb-NO" dirty="0"/>
          </a:p>
        </p:txBody>
      </p:sp>
      <p:pic>
        <p:nvPicPr>
          <p:cNvPr id="8" name="Picture 7" descr="A computer screen with a magnifying glass and a bug&#10;&#10;AI-generated content may be incorrect.">
            <a:extLst>
              <a:ext uri="{FF2B5EF4-FFF2-40B4-BE49-F238E27FC236}">
                <a16:creationId xmlns:a16="http://schemas.microsoft.com/office/drawing/2014/main" id="{BFBF568E-E754-4444-C036-60B439F531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3" r="17315"/>
          <a:stretch>
            <a:fillRect/>
          </a:stretch>
        </p:blipFill>
        <p:spPr>
          <a:xfrm>
            <a:off x="4648201" y="1129631"/>
            <a:ext cx="4038599" cy="331958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4288-44E4-48EE-182E-BCB16E3C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5C7C6-2E3A-8D50-2490-4CA67EE0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202AF-794F-66D1-A887-2379B898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7792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2F14-AAFE-64C8-3EF0-16FD03D6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💡 Forstå vanlige feil og hvordan de oppstår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C9214-7A9C-CB92-C814-419A080A4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Koblingsfeil (hardware)</a:t>
            </a:r>
          </a:p>
          <a:p>
            <a:r>
              <a:rPr lang="nb-NO" dirty="0"/>
              <a:t>Kodefeil (syntaks og logikk)</a:t>
            </a:r>
          </a:p>
          <a:p>
            <a:r>
              <a:rPr lang="nb-NO" dirty="0"/>
              <a:t>Kommunikasjonsfeil (I2C, SPI, Serial)</a:t>
            </a:r>
          </a:p>
          <a:p>
            <a:r>
              <a:rPr lang="nb-NO" dirty="0"/>
              <a:t>Strømrelaterte feil</a:t>
            </a:r>
          </a:p>
          <a:p>
            <a:r>
              <a:rPr lang="nb-NO" dirty="0"/>
              <a:t>Logiske og fysiske misforståelser</a:t>
            </a:r>
          </a:p>
          <a:p>
            <a:r>
              <a:rPr lang="nb-NO" dirty="0"/>
              <a:t>Miljø- og menneskelige faktorer</a:t>
            </a:r>
          </a:p>
        </p:txBody>
      </p:sp>
      <p:pic>
        <p:nvPicPr>
          <p:cNvPr id="8" name="Picture 7" descr="A red stamp with text&#10;&#10;AI-generated content may be incorrect.">
            <a:extLst>
              <a:ext uri="{FF2B5EF4-FFF2-40B4-BE49-F238E27FC236}">
                <a16:creationId xmlns:a16="http://schemas.microsoft.com/office/drawing/2014/main" id="{131DF0FB-2CEC-3540-9C35-51FE6ED2E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72816"/>
            <a:ext cx="4038600" cy="304914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47918-D794-25CC-323E-62F7DCCF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BA5A7-9A04-AA21-3F42-B1416776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CCD7B-B527-6891-C3AE-B71CC666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520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FCB6-BA3B-FE60-7A2F-FDF3FA70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Koblingsfeil (hardware)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64B4F-A7D8-975C-E6A1-1B257B9A1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700" dirty="0"/>
              <a:t>Oppstår ofte fordi man ser på koblingsskjema, men ikke kontrollerer fysisk kobling nøye.</a:t>
            </a:r>
          </a:p>
          <a:p>
            <a:pPr>
              <a:lnSpc>
                <a:spcPct val="90000"/>
              </a:lnSpc>
            </a:pPr>
            <a:r>
              <a:rPr lang="nb-NO" sz="1700" dirty="0"/>
              <a:t>Ledninger er satt i feil pinne eller dårlig kontakt på </a:t>
            </a:r>
            <a:r>
              <a:rPr lang="nb-NO" sz="1700" dirty="0" err="1"/>
              <a:t>breadboardet</a:t>
            </a:r>
            <a:endParaRPr lang="nb-NO" sz="1700" dirty="0"/>
          </a:p>
          <a:p>
            <a:pPr>
              <a:lnSpc>
                <a:spcPct val="90000"/>
              </a:lnSpc>
            </a:pPr>
            <a:r>
              <a:rPr lang="nb-NO" sz="1700" dirty="0"/>
              <a:t>Manglende felles GND mellom </a:t>
            </a:r>
            <a:r>
              <a:rPr lang="nb-NO" sz="1700" dirty="0" err="1"/>
              <a:t>Arduino</a:t>
            </a:r>
            <a:r>
              <a:rPr lang="nb-NO" sz="1700" dirty="0"/>
              <a:t> og komponenter</a:t>
            </a:r>
          </a:p>
          <a:p>
            <a:pPr>
              <a:lnSpc>
                <a:spcPct val="90000"/>
              </a:lnSpc>
            </a:pPr>
            <a:r>
              <a:rPr lang="nb-NO" sz="1700" dirty="0"/>
              <a:t>Feil polaritet på LED, sensorer eller motorer</a:t>
            </a:r>
          </a:p>
          <a:p>
            <a:pPr>
              <a:lnSpc>
                <a:spcPct val="90000"/>
              </a:lnSpc>
            </a:pPr>
            <a:r>
              <a:rPr lang="nb-NO" sz="1700" dirty="0"/>
              <a:t>Komponenter ikke koblet via motstand (f.eks. LED uten seriemotstand → overbelastning)</a:t>
            </a:r>
          </a:p>
        </p:txBody>
      </p:sp>
      <p:pic>
        <p:nvPicPr>
          <p:cNvPr id="9" name="Picture 8" descr="A person holding a white and blue electrical outlet&#10;&#10;AI-generated content may be incorrect.">
            <a:extLst>
              <a:ext uri="{FF2B5EF4-FFF2-40B4-BE49-F238E27FC236}">
                <a16:creationId xmlns:a16="http://schemas.microsoft.com/office/drawing/2014/main" id="{14666B65-2518-CDB7-5CEF-2580FB6BD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2" r="12979" b="-3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34B8-E933-27EE-A5ED-B7EEFD9E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81DB-4F36-A868-15B0-3F981CB3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52FF3-E033-4971-E6A5-25306628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5280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CCA5-FD87-C946-F39D-FBEB5A77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Kodefeil (syntaks og logikk)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CB13-9967-7158-8342-0110643DE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sz="1900"/>
              <a:t>Oppstår fordi man skriver uten å teste trinnvis eller overser kompilatorens hint.</a:t>
            </a:r>
          </a:p>
          <a:p>
            <a:r>
              <a:rPr lang="nb-NO" sz="1900"/>
              <a:t>Feilstaving av variabelnavn, pinnenavn eller funksjoner</a:t>
            </a:r>
          </a:p>
          <a:p>
            <a:r>
              <a:rPr lang="nb-NO" sz="1900"/>
              <a:t>Glemte </a:t>
            </a:r>
            <a:r>
              <a:rPr lang="nb-NO" sz="1900" err="1"/>
              <a:t>pinMode</a:t>
            </a:r>
            <a:r>
              <a:rPr lang="nb-NO" sz="1900"/>
              <a:t>() i </a:t>
            </a:r>
            <a:r>
              <a:rPr lang="nb-NO" sz="1900" err="1"/>
              <a:t>setup</a:t>
            </a:r>
            <a:r>
              <a:rPr lang="nb-NO" sz="1900"/>
              <a:t>()</a:t>
            </a:r>
          </a:p>
          <a:p>
            <a:r>
              <a:rPr lang="nb-NO" sz="1900"/>
              <a:t>if-betingelser som aldri blir sanne</a:t>
            </a:r>
          </a:p>
          <a:p>
            <a:r>
              <a:rPr lang="nb-NO" sz="1900" err="1"/>
              <a:t>delay</a:t>
            </a:r>
            <a:r>
              <a:rPr lang="nb-NO" sz="1900"/>
              <a:t>() blokkerer koden så andre funksjoner ikke kjører</a:t>
            </a:r>
          </a:p>
          <a:p>
            <a:r>
              <a:rPr lang="nb-NO" sz="1900"/>
              <a:t>Glemte ; eller feil bruk av { }</a:t>
            </a:r>
          </a:p>
          <a:p>
            <a:endParaRPr lang="nb-NO" sz="1900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D48B8E1-12F1-59EF-D779-F9C947271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60566"/>
            <a:ext cx="4038600" cy="247364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2BAC7-89C6-EE0D-7CCB-7AEA032C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4FCAD-A9FD-8C4A-7924-263AA078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1A62E-DA54-6DE9-F4DA-D41C962A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7192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6921-8CBD-C2CD-ED0B-62E0769E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Kommunikasjonsfeil (I2C, SPI, Serial)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B20E-BFF4-3695-D1FB-D3BF40D18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700"/>
              <a:t>Oppstår ofte fordi man kopierer kode fra andre uten å sjekke hvilken adresse eller port som gjelder for egen krets.</a:t>
            </a:r>
          </a:p>
          <a:p>
            <a:pPr>
              <a:lnSpc>
                <a:spcPct val="90000"/>
              </a:lnSpc>
            </a:pPr>
            <a:r>
              <a:rPr lang="nb-NO" sz="1700"/>
              <a:t>Feil adresse på I2C-enhet (hver sensor kan ha unik adresse)</a:t>
            </a:r>
          </a:p>
          <a:p>
            <a:pPr>
              <a:lnSpc>
                <a:spcPct val="90000"/>
              </a:lnSpc>
            </a:pPr>
            <a:r>
              <a:rPr lang="nb-NO" sz="1700"/>
              <a:t>Manglende </a:t>
            </a:r>
            <a:r>
              <a:rPr lang="nb-NO" sz="1700" err="1"/>
              <a:t>Serial.begin</a:t>
            </a:r>
            <a:r>
              <a:rPr lang="nb-NO" sz="1700"/>
              <a:t>(9600) i </a:t>
            </a:r>
            <a:r>
              <a:rPr lang="nb-NO" sz="1700" err="1"/>
              <a:t>setup</a:t>
            </a:r>
            <a:r>
              <a:rPr lang="nb-NO" sz="1700"/>
              <a:t>()</a:t>
            </a:r>
          </a:p>
          <a:p>
            <a:pPr>
              <a:lnSpc>
                <a:spcPct val="90000"/>
              </a:lnSpc>
            </a:pPr>
            <a:r>
              <a:rPr lang="nb-NO" sz="1700"/>
              <a:t>Sensorer deler feil klokkelinje eller har konflikter</a:t>
            </a:r>
          </a:p>
          <a:p>
            <a:pPr>
              <a:lnSpc>
                <a:spcPct val="90000"/>
              </a:lnSpc>
            </a:pPr>
            <a:r>
              <a:rPr lang="nb-NO" sz="1700"/>
              <a:t>Ingen oppdatering i Serial Monitor fordi riktig port ikke er valgt</a:t>
            </a:r>
          </a:p>
        </p:txBody>
      </p:sp>
      <p:pic>
        <p:nvPicPr>
          <p:cNvPr id="9" name="Picture 8" descr="A person standing next to a computer screen&#10;&#10;AI-generated content may be incorrect.">
            <a:extLst>
              <a:ext uri="{FF2B5EF4-FFF2-40B4-BE49-F238E27FC236}">
                <a16:creationId xmlns:a16="http://schemas.microsoft.com/office/drawing/2014/main" id="{6C53657B-3553-B141-20B8-A2E284AFE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6" r="11633" b="-2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19A4-91D9-8E1E-9FC3-09FE8E25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BD778-8062-CF82-D739-20D2FC0A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8B2F-6E0E-2384-9891-EA43FD30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721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4FF0-A6AE-1D74-0ED1-BFBD60828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Strømrelaterte feil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70C8-3418-706B-3E10-9B9B384F9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dirty="0"/>
              <a:t>Oppstår fordi man undervurderer strømforbruk eller antar at alt fungerer på 5 V.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Sensorer eller motorer trekker mer strøm enn USB-porten gir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Spenningsfall fører til at </a:t>
            </a:r>
            <a:r>
              <a:rPr lang="nb-NO" dirty="0" err="1"/>
              <a:t>Arduino</a:t>
            </a:r>
            <a:r>
              <a:rPr lang="nb-NO" dirty="0"/>
              <a:t> resetter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Manglende felles jord (GND) mellom ekstern strøm og kortet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Feil bruk av 3.3 V / 5 V — enkelte sensorer tåler ikke 5 V</a:t>
            </a:r>
            <a:endParaRPr lang="nb-NO"/>
          </a:p>
        </p:txBody>
      </p:sp>
      <p:pic>
        <p:nvPicPr>
          <p:cNvPr id="9" name="Picture 8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3CB2509C-B3AC-E1B6-CE8F-6C3F41C47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49504"/>
            <a:ext cx="4038600" cy="269576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BFE28-FFFF-9610-61F9-37C64565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6AAD8-BC5F-62A8-7184-1A5A9ACB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D061B-8777-076E-0248-430C78F4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955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17B92-5D91-18E3-3970-BA743618F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Logiske og fysiske misforståelser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1F26-19D6-F882-7292-25E98CEED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dirty="0"/>
              <a:t>Oppstår fordi man ikke helt forstår hvordan data flyter fra sensor til kode.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Forventer at sensoren “viser tall” uten at man konverterer verdier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Bruker </a:t>
            </a:r>
            <a:r>
              <a:rPr lang="nb-NO" dirty="0" err="1"/>
              <a:t>digitalRead</a:t>
            </a:r>
            <a:r>
              <a:rPr lang="nb-NO" dirty="0"/>
              <a:t>() på analog sensor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Antar at 0–1023 er “prosent”, uten å bruke </a:t>
            </a:r>
            <a:r>
              <a:rPr lang="nb-NO" dirty="0" err="1"/>
              <a:t>map</a:t>
            </a:r>
            <a:r>
              <a:rPr lang="nb-NO" dirty="0"/>
              <a:t>()</a:t>
            </a:r>
            <a:endParaRPr lang="nb-NO"/>
          </a:p>
          <a:p>
            <a:pPr>
              <a:lnSpc>
                <a:spcPct val="90000"/>
              </a:lnSpc>
            </a:pPr>
            <a:r>
              <a:rPr lang="nb-NO" dirty="0"/>
              <a:t>Sammenligner flyttall (float) med == og får uventet resultat</a:t>
            </a:r>
            <a:endParaRPr lang="nb-NO"/>
          </a:p>
        </p:txBody>
      </p:sp>
      <p:pic>
        <p:nvPicPr>
          <p:cNvPr id="10" name="Picture 9" descr="A black and yellow heads with a question mark&#10;&#10;AI-generated content may be incorrect.">
            <a:extLst>
              <a:ext uri="{FF2B5EF4-FFF2-40B4-BE49-F238E27FC236}">
                <a16:creationId xmlns:a16="http://schemas.microsoft.com/office/drawing/2014/main" id="{5A446C8A-9BBF-A1F9-7FD3-E9677D402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15602"/>
            <a:ext cx="4038600" cy="316357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C75DD-9628-B71E-5822-878195AA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93F6-2547-1AE8-D973-3611C4C6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6A5F2-A59C-4194-A624-1BB9811F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3426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DF1F-A476-222B-56B7-ED3B12C6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Miljø- og menneskelige faktorer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BB32-A6D5-06C1-8E4A-24081B1EB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Dårlig lys → vanskelig å se koblinger</a:t>
            </a:r>
          </a:p>
          <a:p>
            <a:r>
              <a:rPr lang="nb-NO" dirty="0"/>
              <a:t>Kopiert kode fra nettet med feil pinneoppsett</a:t>
            </a:r>
          </a:p>
          <a:p>
            <a:r>
              <a:rPr lang="nb-NO" dirty="0"/>
              <a:t>Glemsel: bruker gammel versjon av koden</a:t>
            </a:r>
          </a:p>
          <a:p>
            <a:r>
              <a:rPr lang="nb-NO" dirty="0"/>
              <a:t>Tester for mange ting på én gang → mister oversikt</a:t>
            </a:r>
          </a:p>
        </p:txBody>
      </p:sp>
      <p:pic>
        <p:nvPicPr>
          <p:cNvPr id="8" name="Picture 7" descr="A person surrounded by many hands pointing at him&#10;&#10;AI-generated content may be incorrect.">
            <a:extLst>
              <a:ext uri="{FF2B5EF4-FFF2-40B4-BE49-F238E27FC236}">
                <a16:creationId xmlns:a16="http://schemas.microsoft.com/office/drawing/2014/main" id="{4CBE48B7-122E-39DD-5B98-95767E7B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66" r="10314" b="-1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FEBB-6AC8-8FFC-99C9-1D787956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3843D-0F8D-B45C-69AF-03E3D6AF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7447F-F152-C659-D736-8965482B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697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27EF-FC44-1F46-D7F8-4B55FD9C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Grunnleggende feilsøkingstrinn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50AD-E05B-19FA-9673-BA818A84F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Observer symptomet</a:t>
            </a:r>
          </a:p>
          <a:p>
            <a:r>
              <a:rPr lang="nb-NO" dirty="0"/>
              <a:t>Sjekk koblinger og strøm</a:t>
            </a:r>
          </a:p>
          <a:p>
            <a:r>
              <a:rPr lang="nb-NO" dirty="0"/>
              <a:t>Kontroller kort/port/opplasting</a:t>
            </a:r>
          </a:p>
          <a:p>
            <a:r>
              <a:rPr lang="nb-NO" dirty="0"/>
              <a:t>Test kommunikasjon med </a:t>
            </a:r>
            <a:r>
              <a:rPr lang="nb-NO" dirty="0" err="1"/>
              <a:t>Serial.print</a:t>
            </a:r>
            <a:r>
              <a:rPr lang="nb-NO" dirty="0"/>
              <a:t>()</a:t>
            </a:r>
          </a:p>
          <a:p>
            <a:r>
              <a:rPr lang="nb-NO" dirty="0"/>
              <a:t>Del opp systemet og test delene</a:t>
            </a:r>
          </a:p>
          <a:p>
            <a:r>
              <a:rPr lang="nb-NO" dirty="0"/>
              <a:t>Sjekk logikk og variabler</a:t>
            </a:r>
          </a:p>
          <a:p>
            <a:r>
              <a:rPr lang="nb-NO" dirty="0"/>
              <a:t>Verifiser spenning/strøm</a:t>
            </a:r>
          </a:p>
        </p:txBody>
      </p:sp>
      <p:pic>
        <p:nvPicPr>
          <p:cNvPr id="8" name="Picture 7" descr="A person wearing headphones sitting at a computer&#10;&#10;AI-generated content may be incorrect.">
            <a:extLst>
              <a:ext uri="{FF2B5EF4-FFF2-40B4-BE49-F238E27FC236}">
                <a16:creationId xmlns:a16="http://schemas.microsoft.com/office/drawing/2014/main" id="{A2954B5E-4677-B78A-F22E-9E7F9546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438443"/>
            <a:ext cx="4038600" cy="291788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33AD2-0E04-E3E6-D841-CFF89B68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6A9D4-145F-65CA-C285-90BEC34DB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EDD2-82F6-4384-AE7D-9BFB293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2004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69A5-ECFB-D5D5-9B2B-64C5333F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1: Observer symptomet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8F38D-6FA4-2EC8-59CF-E6DA99BF0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Hva ser du? </a:t>
            </a:r>
          </a:p>
          <a:p>
            <a:endParaRPr lang="nb-NO" dirty="0"/>
          </a:p>
          <a:p>
            <a:r>
              <a:rPr lang="nb-NO" dirty="0"/>
              <a:t>Ingen lys, feil verdier, ustabil oppførsel?</a:t>
            </a:r>
          </a:p>
          <a:p>
            <a:endParaRPr lang="nb-NO" dirty="0"/>
          </a:p>
          <a:p>
            <a:r>
              <a:rPr lang="nb-NO" dirty="0"/>
              <a:t>Legg merke til hva som faktisk skjer, ikke hva du tror skjer.</a:t>
            </a:r>
          </a:p>
        </p:txBody>
      </p:sp>
      <p:pic>
        <p:nvPicPr>
          <p:cNvPr id="9" name="Picture 8" descr="A cartoon of a person looking through a magnifying glass&#10;&#10;AI-generated content may be incorrect.">
            <a:extLst>
              <a:ext uri="{FF2B5EF4-FFF2-40B4-BE49-F238E27FC236}">
                <a16:creationId xmlns:a16="http://schemas.microsoft.com/office/drawing/2014/main" id="{54893E91-66D0-6D64-C95B-646A6A679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7" r="-1" b="-1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A322-FC43-A01C-F8FA-740B6F8E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C0A5A-3D4D-494E-60CD-005EF1BC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3F7FE-79E2-F76F-3314-6F478227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5061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239B-1710-67C6-4E57-7E83B4AA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2: Sjekk det fysiske først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B291-77A6-283D-CE02-3AFCFB726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00151"/>
            <a:ext cx="4258235" cy="3394472"/>
          </a:xfrm>
        </p:spPr>
        <p:txBody>
          <a:bodyPr>
            <a:normAutofit/>
          </a:bodyPr>
          <a:lstStyle/>
          <a:p>
            <a:r>
              <a:rPr lang="nb-NO" dirty="0"/>
              <a:t>Flesteparten av alle feil skyldes fysisk kobling.</a:t>
            </a:r>
          </a:p>
          <a:p>
            <a:r>
              <a:rPr lang="nb-NO" dirty="0"/>
              <a:t>Sitter alle ledninger godt?</a:t>
            </a:r>
          </a:p>
          <a:p>
            <a:r>
              <a:rPr lang="nb-NO" dirty="0"/>
              <a:t>Er komponentene koblet riktig vei?</a:t>
            </a:r>
          </a:p>
          <a:p>
            <a:r>
              <a:rPr lang="nb-NO" dirty="0"/>
              <a:t>Har du felles GND mellom </a:t>
            </a:r>
            <a:r>
              <a:rPr lang="nb-NO" dirty="0" err="1"/>
              <a:t>Arduino</a:t>
            </a:r>
            <a:r>
              <a:rPr lang="nb-NO" dirty="0"/>
              <a:t> og sensorer?</a:t>
            </a:r>
          </a:p>
          <a:p>
            <a:r>
              <a:rPr lang="nb-NO" dirty="0"/>
              <a:t>Lyser power-LED på kortet?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1AE43-2A67-C8FE-ADAE-E684B6CFCD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20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433CD-1C5C-39D9-DCD1-F04C7D58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3692A-23EA-B11C-F6C3-6CB2DE63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F5222-F806-EA80-0407-2EF09AB5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6143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D351-B200-EB7C-FE1C-63BA4038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3: Kontroller grunnleggende innstillinger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70CAE-7530-CF03-FE2E-CC4642C3F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Riktig </a:t>
            </a:r>
            <a:r>
              <a:rPr lang="nb-NO" b="1" dirty="0"/>
              <a:t>korttype</a:t>
            </a:r>
            <a:r>
              <a:rPr lang="nb-NO" dirty="0"/>
              <a:t> valgt (Tools → Board)?</a:t>
            </a:r>
          </a:p>
          <a:p>
            <a:endParaRPr lang="nb-NO" dirty="0"/>
          </a:p>
          <a:p>
            <a:r>
              <a:rPr lang="nb-NO" dirty="0"/>
              <a:t>Riktig </a:t>
            </a:r>
            <a:r>
              <a:rPr lang="nb-NO" b="1" dirty="0"/>
              <a:t>port</a:t>
            </a:r>
            <a:r>
              <a:rPr lang="nb-NO" dirty="0"/>
              <a:t> (Tools → Port)?</a:t>
            </a:r>
          </a:p>
          <a:p>
            <a:endParaRPr lang="nb-NO" dirty="0"/>
          </a:p>
          <a:p>
            <a:r>
              <a:rPr lang="nb-NO" dirty="0"/>
              <a:t>Kompilerer programmet uten feil?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43352B-5200-867E-A166-A4827A2B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760366"/>
            <a:ext cx="4038600" cy="227404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404B3-4666-86FC-FCBF-5711291F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B43F-E18E-D49D-EB82-049253E7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3CF36-8CE2-D8E5-F4DA-EB0E3950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545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6D29-4E9B-927E-07B1-B4BB38C9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4: Test kommunikasjonen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DC415-CF78-56B3-741E-45046A7F4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 lnSpcReduction="10000"/>
          </a:bodyPr>
          <a:lstStyle/>
          <a:p>
            <a:endParaRPr lang="nb-NO" dirty="0"/>
          </a:p>
          <a:p>
            <a:r>
              <a:rPr lang="nb-NO" dirty="0"/>
              <a:t>Bruk </a:t>
            </a:r>
            <a:r>
              <a:rPr lang="nb-NO" dirty="0" err="1"/>
              <a:t>Serial.println</a:t>
            </a:r>
            <a:r>
              <a:rPr lang="nb-NO" dirty="0"/>
              <a:t>("Test"); for å sjekke at koden faktisk kjører.</a:t>
            </a:r>
          </a:p>
          <a:p>
            <a:endParaRPr lang="nb-NO" dirty="0"/>
          </a:p>
          <a:p>
            <a:r>
              <a:rPr lang="nb-NO" dirty="0"/>
              <a:t>Les </a:t>
            </a:r>
            <a:r>
              <a:rPr lang="nb-NO" dirty="0" err="1"/>
              <a:t>sensordata</a:t>
            </a:r>
            <a:r>
              <a:rPr lang="nb-NO" dirty="0"/>
              <a:t> i Serial Monitor – får du noen tall i det hele tatt?</a:t>
            </a:r>
          </a:p>
          <a:p>
            <a:endParaRPr lang="nb-NO" dirty="0"/>
          </a:p>
          <a:p>
            <a:r>
              <a:rPr lang="nb-NO" dirty="0"/>
              <a:t>Hvis du bruker I2C: test med en I2C-scanner for å se om enheten svarer.</a:t>
            </a:r>
          </a:p>
        </p:txBody>
      </p:sp>
      <p:pic>
        <p:nvPicPr>
          <p:cNvPr id="9" name="Picture 8" descr="A magnifying glass over a computer screen&#10;&#10;AI-generated content may be incorrect.">
            <a:extLst>
              <a:ext uri="{FF2B5EF4-FFF2-40B4-BE49-F238E27FC236}">
                <a16:creationId xmlns:a16="http://schemas.microsoft.com/office/drawing/2014/main" id="{B38830F7-8125-CBB8-BC0A-24FFFCB60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761531"/>
            <a:ext cx="4038600" cy="227171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EF547-5C79-0CF8-957B-875B228A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453F7-260C-FA0B-C03A-9166D2B6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7D214-43A5-9D6B-0147-B2F8BDFB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189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187E-885B-1F77-DB8D-3E3366FD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5: Del opp systemet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89A67-5691-5183-B6CC-91B562CE1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Koble fra alt unødvendig.</a:t>
            </a:r>
          </a:p>
          <a:p>
            <a:endParaRPr lang="nb-NO" dirty="0"/>
          </a:p>
          <a:p>
            <a:r>
              <a:rPr lang="nb-NO" dirty="0"/>
              <a:t>Test én komponent om gangen med et kort testprogram.</a:t>
            </a:r>
          </a:p>
          <a:p>
            <a:endParaRPr lang="nb-NO" dirty="0"/>
          </a:p>
          <a:p>
            <a:r>
              <a:rPr lang="nb-NO" dirty="0"/>
              <a:t>Bygg gradvis opp igjen til hele systemet virker.</a:t>
            </a:r>
          </a:p>
        </p:txBody>
      </p:sp>
      <p:pic>
        <p:nvPicPr>
          <p:cNvPr id="9" name="Picture 8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67686410-5381-3152-15A2-C26FBB7B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731241"/>
            <a:ext cx="4038600" cy="2332291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F5A1B-0D74-EF7C-6FC4-114576BE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787F7-D2AD-56AC-AF74-7889D4F6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BDB5A-FAD6-C2BF-C6B9-57D0D27A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842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5F01-B6F8-2FA3-3879-8B56F2765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6: Valider logikken i koden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BCAD9-5F6A-1F05-14FD-9726ADDFC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Bruk </a:t>
            </a:r>
            <a:r>
              <a:rPr lang="nb-NO" dirty="0" err="1"/>
              <a:t>Serial.print</a:t>
            </a:r>
            <a:r>
              <a:rPr lang="nb-NO" dirty="0"/>
              <a:t>() for å følge </a:t>
            </a:r>
            <a:r>
              <a:rPr lang="nb-NO" dirty="0" err="1"/>
              <a:t>programflyten</a:t>
            </a:r>
            <a:r>
              <a:rPr lang="nb-NO" dirty="0"/>
              <a:t>.</a:t>
            </a:r>
          </a:p>
          <a:p>
            <a:endParaRPr lang="nb-NO" dirty="0"/>
          </a:p>
          <a:p>
            <a:r>
              <a:rPr lang="nb-NO" dirty="0"/>
              <a:t>Sjekk betingelser (</a:t>
            </a:r>
            <a:r>
              <a:rPr lang="nb-NO" dirty="0" err="1"/>
              <a:t>if</a:t>
            </a:r>
            <a:r>
              <a:rPr lang="nb-NO" dirty="0"/>
              <a:t>, </a:t>
            </a:r>
            <a:r>
              <a:rPr lang="nb-NO" dirty="0" err="1"/>
              <a:t>else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) — stemmer de med virkeligheten?</a:t>
            </a:r>
          </a:p>
          <a:p>
            <a:endParaRPr lang="nb-NO" dirty="0"/>
          </a:p>
          <a:p>
            <a:r>
              <a:rPr lang="nb-NO" dirty="0"/>
              <a:t>Kontroller terskelverdier, </a:t>
            </a:r>
            <a:r>
              <a:rPr lang="nb-NO" dirty="0" err="1"/>
              <a:t>mapping</a:t>
            </a:r>
            <a:r>
              <a:rPr lang="nb-NO" dirty="0"/>
              <a:t> og variabler.</a:t>
            </a:r>
          </a:p>
        </p:txBody>
      </p:sp>
      <p:pic>
        <p:nvPicPr>
          <p:cNvPr id="8" name="Picture 7" descr="A person writing on a black board&#10;&#10;AI-generated content may be incorrect.">
            <a:extLst>
              <a:ext uri="{FF2B5EF4-FFF2-40B4-BE49-F238E27FC236}">
                <a16:creationId xmlns:a16="http://schemas.microsoft.com/office/drawing/2014/main" id="{CE7F9398-A8CF-A97B-809D-DFB8052F5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493636"/>
            <a:ext cx="4038600" cy="280750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0BA55-3963-E296-6189-6E6C02D953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DC3A8-5D94-190C-0187-80AA29E0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8D37-6169-3810-6CC4-4EF44A0E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751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30C-C7D2-AF98-9BE4-5F467AA9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Feilsøkingstrinn 7: Tenk strøm og spenning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7C093-D28A-A122-9060-45D94A55D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Bruk multimeter om noe oppfører seg ulogisk.</a:t>
            </a:r>
          </a:p>
          <a:p>
            <a:endParaRPr lang="nb-NO" dirty="0"/>
          </a:p>
          <a:p>
            <a:r>
              <a:rPr lang="nb-NO" dirty="0"/>
              <a:t>Sjekk at komponentene får riktig spenning (3.3 V eller 5 V).</a:t>
            </a:r>
          </a:p>
          <a:p>
            <a:endParaRPr lang="nb-NO" dirty="0"/>
          </a:p>
          <a:p>
            <a:r>
              <a:rPr lang="nb-NO" dirty="0"/>
              <a:t>Unngå å drive motorer direkte fra </a:t>
            </a:r>
            <a:r>
              <a:rPr lang="nb-NO" dirty="0" err="1"/>
              <a:t>Arduino</a:t>
            </a:r>
            <a:r>
              <a:rPr lang="nb-NO" dirty="0"/>
              <a:t>.</a:t>
            </a:r>
          </a:p>
        </p:txBody>
      </p:sp>
      <p:pic>
        <p:nvPicPr>
          <p:cNvPr id="8" name="Picture 7" descr="A digital multimeter with wires&#10;&#10;AI-generated content may be incorrect.">
            <a:extLst>
              <a:ext uri="{FF2B5EF4-FFF2-40B4-BE49-F238E27FC236}">
                <a16:creationId xmlns:a16="http://schemas.microsoft.com/office/drawing/2014/main" id="{587F1209-5F88-C970-86CC-DD7DC279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264" y="1200151"/>
            <a:ext cx="3394472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EB43A-6829-DBDD-EFBA-80DB5EAE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38ED-07CE-BE1F-FAD4-51FC3487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F6A84-F67B-7E49-70EC-4C0C8AE0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369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1CE5-C5C0-C42F-16F1-A4065C289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Feilsøking underveis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1614-59D5-6F75-96C5-A01572CD5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 err="1"/>
              <a:t>TinkerCAD</a:t>
            </a:r>
            <a:endParaRPr lang="nb-NO" dirty="0"/>
          </a:p>
          <a:p>
            <a:r>
              <a:rPr lang="nb-NO" dirty="0" err="1"/>
              <a:t>Print</a:t>
            </a:r>
            <a:r>
              <a:rPr lang="nb-NO" dirty="0"/>
              <a:t> alt</a:t>
            </a:r>
          </a:p>
          <a:p>
            <a:pPr lvl="1"/>
            <a:r>
              <a:rPr lang="nb-NO" sz="2000"/>
              <a:t>At alt starter</a:t>
            </a:r>
          </a:p>
          <a:p>
            <a:pPr lvl="1"/>
            <a:r>
              <a:rPr lang="nb-NO" sz="2000"/>
              <a:t>Hva verdier er underveis</a:t>
            </a:r>
          </a:p>
          <a:p>
            <a:pPr lvl="1"/>
            <a:r>
              <a:rPr lang="nb-NO" sz="2000"/>
              <a:t>Hvert trinn</a:t>
            </a:r>
          </a:p>
          <a:p>
            <a:pPr lvl="1"/>
            <a:r>
              <a:rPr lang="nb-NO" sz="2000"/>
              <a:t>Hvert tilfelle i </a:t>
            </a:r>
            <a:r>
              <a:rPr lang="nb-NO" sz="2000" err="1"/>
              <a:t>if</a:t>
            </a:r>
            <a:r>
              <a:rPr lang="nb-NO" sz="2000"/>
              <a:t> </a:t>
            </a:r>
            <a:r>
              <a:rPr lang="nb-NO" sz="2000" err="1"/>
              <a:t>else</a:t>
            </a:r>
            <a:endParaRPr lang="nb-NO" sz="2000"/>
          </a:p>
          <a:p>
            <a:r>
              <a:rPr lang="nb-NO" dirty="0"/>
              <a:t>Test en og en komponent</a:t>
            </a:r>
          </a:p>
          <a:p>
            <a:r>
              <a:rPr lang="nb-NO" dirty="0"/>
              <a:t>Test en og en funksjon</a:t>
            </a:r>
          </a:p>
        </p:txBody>
      </p:sp>
      <p:pic>
        <p:nvPicPr>
          <p:cNvPr id="8" name="Picture 7" descr="A circuit board with wires and numbers&#10;&#10;AI-generated content may be incorrect.">
            <a:extLst>
              <a:ext uri="{FF2B5EF4-FFF2-40B4-BE49-F238E27FC236}">
                <a16:creationId xmlns:a16="http://schemas.microsoft.com/office/drawing/2014/main" id="{F6DB1906-1FE9-B9A7-A71B-2B02CFAC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62719"/>
            <a:ext cx="4038600" cy="306933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C6521-ED6F-CCD1-F2C8-C074FC3E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F98D-AF8B-FFD0-ED0E-35C1FFE5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B7176-295D-33D6-5FEC-78EA6581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2054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ED34-EB68-BF03-D52D-1335950E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Bruk av boolske variabler som flagg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19793-F067-7EC2-B923-33FF6C6E2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Et flagg er en variabel som husker om noe er sant eller usant.</a:t>
            </a:r>
          </a:p>
          <a:p>
            <a:r>
              <a:rPr lang="nb-NO" dirty="0"/>
              <a:t>Den brukes for å lagre tilstand, ikke bare sjekke en gang.</a:t>
            </a:r>
          </a:p>
          <a:p>
            <a:r>
              <a:rPr lang="nb-NO" dirty="0"/>
              <a:t>For å holde styr på tilstand (“er alt i orden?”)</a:t>
            </a:r>
          </a:p>
          <a:p>
            <a:r>
              <a:rPr lang="nb-NO" dirty="0"/>
              <a:t>For å unngå gjentatt testing i mange if-setninger</a:t>
            </a:r>
          </a:p>
          <a:p>
            <a:r>
              <a:rPr lang="nb-NO" dirty="0"/>
              <a:t>For å skille mellom sjekk og handling</a:t>
            </a:r>
          </a:p>
          <a:p>
            <a:r>
              <a:rPr lang="nb-NO" dirty="0"/>
              <a:t>Du sjekker én gang – lagrer resultatet – og bruker flagget videre.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442BF-91E1-DC57-5D3B-42E84565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DEB6-E854-24E4-9DFA-14019546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EE836-5EC0-6D59-E213-1440809B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748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8EE9-479A-7388-473D-60B048EA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Oppgave: Feilsøking og validering med to LDR-sensorer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6A9BA-3F3A-142A-946F-B7D663F0A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Læringsmål</a:t>
            </a:r>
          </a:p>
          <a:p>
            <a:r>
              <a:rPr lang="nb-NO" dirty="0"/>
              <a:t>Forstå hvordan man leser to sensorer parallelt</a:t>
            </a:r>
          </a:p>
          <a:p>
            <a:r>
              <a:rPr lang="nb-NO" dirty="0"/>
              <a:t>Lære å validere måledata før de brukes</a:t>
            </a:r>
          </a:p>
          <a:p>
            <a:r>
              <a:rPr lang="nb-NO" dirty="0"/>
              <a:t>Bruke logiske flagg for å indikere avvik eller feil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8" name="Picture 7" descr="A close up of a device&#10;&#10;AI-generated content may be incorrect.">
            <a:extLst>
              <a:ext uri="{FF2B5EF4-FFF2-40B4-BE49-F238E27FC236}">
                <a16:creationId xmlns:a16="http://schemas.microsoft.com/office/drawing/2014/main" id="{6FBDBA4E-4C7D-C1AE-22AF-F7F7F85A9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84" r="-3" b="-3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6B9CD-A93A-7BE5-CC2D-300D7E64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065B3-7B88-0A16-811C-276ABB3A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B6FB5-2E1F-7E86-F6BE-AA647423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89746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C8370-BE32-C921-FACA-6F94539A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A318-F534-0B2A-2E5D-EBB74F0A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Oppgave: Feilsøking og validering med to LDR-sensorer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D321E-84A9-3B0C-34E4-AB5DB388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614"/>
            <a:ext cx="8229600" cy="3394472"/>
          </a:xfrm>
        </p:spPr>
        <p:txBody>
          <a:bodyPr/>
          <a:lstStyle/>
          <a:p>
            <a:r>
              <a:rPr lang="nb-NO" dirty="0"/>
              <a:t>Du skal bygge et system med </a:t>
            </a:r>
            <a:r>
              <a:rPr lang="nb-NO" b="1" dirty="0"/>
              <a:t>to LDR-sensorer</a:t>
            </a:r>
            <a:r>
              <a:rPr lang="nb-NO" dirty="0"/>
              <a:t> som måler lysnivå på hver sin side av et rom (eller en modell). </a:t>
            </a:r>
          </a:p>
          <a:p>
            <a:r>
              <a:rPr lang="nb-NO" dirty="0"/>
              <a:t>Bruk to LDR-er koblet til analoge innganger.</a:t>
            </a:r>
          </a:p>
          <a:p>
            <a:r>
              <a:rPr lang="nb-NO" dirty="0"/>
              <a:t>Bruk én LED som indikator.</a:t>
            </a:r>
          </a:p>
          <a:p>
            <a:pPr lvl="1"/>
            <a:r>
              <a:rPr lang="nb-NO" dirty="0"/>
              <a:t>LED skal lyse når begge sensorene er mørke</a:t>
            </a:r>
          </a:p>
          <a:p>
            <a:r>
              <a:rPr lang="nb-NO" dirty="0"/>
              <a:t>Bruk Serial Monitor til å vise status og flagg.</a:t>
            </a:r>
          </a:p>
          <a:p>
            <a:pPr marL="0" indent="0">
              <a:buNone/>
            </a:pPr>
            <a:r>
              <a:rPr lang="nb-NO" dirty="0"/>
              <a:t>Tips: Feilsøk underveis for å spare tid/frustrasjon.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0CA6-09F6-5CB3-91A3-2B595774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07.10.2025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4EA0-7645-3584-C15D-50DEF1F0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4F0DE-2C7D-D589-4D2F-C8F088D2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0129589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0e2b19-d22b-458d-836c-196ed8ef0578" xsi:nil="true"/>
    <lcf76f155ced4ddcb4097134ff3c332f xmlns="e84ae1cb-83da-46e9-90cf-a6223a3d62b4">
      <Terms xmlns="http://schemas.microsoft.com/office/infopath/2007/PartnerControls"/>
    </lcf76f155ced4ddcb4097134ff3c332f>
    <Bildet xmlns="e84ae1cb-83da-46e9-90cf-a6223a3d62b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18F6B0D4B41FA41BC01CD0D24188169" ma:contentTypeVersion="20" ma:contentTypeDescription="Opprett et nytt dokument." ma:contentTypeScope="" ma:versionID="b7a18621afdaa9d919b5d73324a8a37d">
  <xsd:schema xmlns:xsd="http://www.w3.org/2001/XMLSchema" xmlns:xs="http://www.w3.org/2001/XMLSchema" xmlns:p="http://schemas.microsoft.com/office/2006/metadata/properties" xmlns:ns2="e84ae1cb-83da-46e9-90cf-a6223a3d62b4" xmlns:ns3="330e2b19-d22b-458d-836c-196ed8ef0578" targetNamespace="http://schemas.microsoft.com/office/2006/metadata/properties" ma:root="true" ma:fieldsID="133c24ea7f3608032fcac58cce4224fb" ns2:_="" ns3:_="">
    <xsd:import namespace="e84ae1cb-83da-46e9-90cf-a6223a3d62b4"/>
    <xsd:import namespace="330e2b19-d22b-458d-836c-196ed8ef05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Bilde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ae1cb-83da-46e9-90cf-a6223a3d6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0df4930c-91c5-452e-b6ab-428d5d93c6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Bildet" ma:index="26" nillable="true" ma:displayName="Bildet" ma:format="Thumbnail" ma:internalName="Bildet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e2b19-d22b-458d-836c-196ed8ef057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7f28dd0-eee2-4647-a0d6-6ff9ffa79036}" ma:internalName="TaxCatchAll" ma:showField="CatchAllData" ma:web="330e2b19-d22b-458d-836c-196ed8ef05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A1235-4F99-4957-98A9-279FBCDCAF1B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e84ae1cb-83da-46e9-90cf-a6223a3d62b4"/>
    <ds:schemaRef ds:uri="330e2b19-d22b-458d-836c-196ed8ef0578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ED8213-7400-4310-B757-2462B42C6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ae1cb-83da-46e9-90cf-a6223a3d62b4"/>
    <ds:schemaRef ds:uri="330e2b19-d22b-458d-836c-196ed8ef05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14095</TotalTime>
  <Words>1186</Words>
  <Application>Microsoft Office PowerPoint</Application>
  <PresentationFormat>On-screen Show (16:9)</PresentationFormat>
  <Paragraphs>198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Source Sans Pro</vt:lpstr>
      <vt:lpstr>HIOF-template-7.13.Presentasjonsmal-NOR-v.0.0.3</vt:lpstr>
      <vt:lpstr>Feilsøking av Arduino Lær hvordan du systematisk finner og løser feil i krets og kode.</vt:lpstr>
      <vt:lpstr>Feilsøking av krets og kode</vt:lpstr>
      <vt:lpstr>💡 Forstå vanlige feil og hvordan de oppstår</vt:lpstr>
      <vt:lpstr>Koblingsfeil (hardware)</vt:lpstr>
      <vt:lpstr>Kodefeil (syntaks og logikk)</vt:lpstr>
      <vt:lpstr>Kommunikasjonsfeil (I2C, SPI, Serial)</vt:lpstr>
      <vt:lpstr>Strømrelaterte feil</vt:lpstr>
      <vt:lpstr>Logiske og fysiske misforståelser</vt:lpstr>
      <vt:lpstr>Miljø- og menneskelige faktorer</vt:lpstr>
      <vt:lpstr>Grunnleggende feilsøkingstrinn</vt:lpstr>
      <vt:lpstr>Feilsøkingstrinn 1: Observer symptomet</vt:lpstr>
      <vt:lpstr>Feilsøkingstrinn 2: Sjekk det fysiske først</vt:lpstr>
      <vt:lpstr>Feilsøkingstrinn 3: Kontroller grunnleggende innstillinger</vt:lpstr>
      <vt:lpstr>Feilsøkingstrinn 4: Test kommunikasjonen</vt:lpstr>
      <vt:lpstr>Feilsøkingstrinn 5: Del opp systemet</vt:lpstr>
      <vt:lpstr>Feilsøkingstrinn 6: Valider logikken i koden</vt:lpstr>
      <vt:lpstr>Feilsøkingstrinn 7: Tenk strøm og spenning</vt:lpstr>
      <vt:lpstr>Feilsøking underveis</vt:lpstr>
      <vt:lpstr>Bruk av boolske variabler som flagg</vt:lpstr>
      <vt:lpstr>Oppgave: Feilsøking og validering med to LDR-sensorer</vt:lpstr>
      <vt:lpstr>Oppgave: Feilsøking og validering med to LDR-sensorer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68</cp:revision>
  <dcterms:created xsi:type="dcterms:W3CDTF">2015-06-11T22:12:29Z</dcterms:created>
  <dcterms:modified xsi:type="dcterms:W3CDTF">2025-10-07T15:42:09Z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0x010100718F6B0D4B41FA41BC01CD0D24188169</vt:lpwstr>
  </property>
  <property fmtid="{D5CDD505-2E9C-101B-9397-08002B2CF9AE}" pid="3" name="MediaServiceImageTags">
    <vt:lpwstr/>
  </property>
</Properties>
</file>
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8"/>
  </p:notesMasterIdLst>
  <p:handoutMasterIdLst>
    <p:handoutMasterId r:id="rId19"/>
  </p:handoutMasterIdLst>
  <p:sldIdLst>
    <p:sldId id="258" r:id="rId5"/>
    <p:sldId id="259" r:id="rId6"/>
    <p:sldId id="263" r:id="rId7"/>
    <p:sldId id="260" r:id="rId8"/>
    <p:sldId id="261" r:id="rId9"/>
    <p:sldId id="262" r:id="rId10"/>
    <p:sldId id="269" r:id="rId11"/>
    <p:sldId id="268" r:id="rId12"/>
    <p:sldId id="270" r:id="rId13"/>
    <p:sldId id="271" r:id="rId14"/>
    <p:sldId id="272" r:id="rId15"/>
    <p:sldId id="267" r:id="rId16"/>
    <p:sldId id="264" r:id="rId17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0" autoAdjust="0"/>
    <p:restoredTop sz="84504" autoAdjust="0"/>
  </p:normalViewPr>
  <p:slideViewPr>
    <p:cSldViewPr snapToGrid="0">
      <p:cViewPr varScale="1">
        <p:scale>
          <a:sx n="71" d="100"/>
          <a:sy n="71" d="100"/>
        </p:scale>
        <p:origin x="196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09.10.2025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09.10.2025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4064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09.10.2025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09.10.2025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09.10.2025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09.10.2025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09.10.2025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09.10.2025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09.10.2025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09.10.2025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09.10.2025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09.10.2025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09.10.2025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Bevegelsessensor og </a:t>
            </a:r>
            <a:r>
              <a:rPr lang="nb-NO" dirty="0" err="1"/>
              <a:t>digitalRead</a:t>
            </a:r>
            <a:r>
              <a:rPr lang="nb-NO" dirty="0"/>
              <a:t>()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09.10.2025</a:t>
            </a:fld>
            <a:endParaRPr lang="nb-NO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C04508E-2D9D-DE5B-DD58-0DBCA106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Infrarød (varme) stråling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FDE0C35-A2DC-E37A-1387-3D99C11CE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100" dirty="0"/>
              <a:t>Elektromagnetisk stråling med lengre bølgelengde enn synlig lys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Ligger mellom </a:t>
            </a:r>
            <a:r>
              <a:rPr lang="nb-NO" sz="1100" b="1" dirty="0"/>
              <a:t>synlig lys (rødt)</a:t>
            </a:r>
            <a:r>
              <a:rPr lang="nb-NO" sz="1100" dirty="0"/>
              <a:t> og </a:t>
            </a:r>
            <a:r>
              <a:rPr lang="nb-NO" sz="1100" b="1" dirty="0"/>
              <a:t>mikrobølger</a:t>
            </a:r>
            <a:endParaRPr lang="nb-NO" sz="1100" dirty="0"/>
          </a:p>
          <a:p>
            <a:pPr>
              <a:lnSpc>
                <a:spcPct val="90000"/>
              </a:lnSpc>
            </a:pPr>
            <a:r>
              <a:rPr lang="nb-NO" sz="1100" dirty="0"/>
              <a:t>Oppfattes som </a:t>
            </a:r>
            <a:r>
              <a:rPr lang="nb-NO" sz="1100" b="1" dirty="0"/>
              <a:t>varme</a:t>
            </a:r>
            <a:r>
              <a:rPr lang="nb-NO" sz="1100" dirty="0"/>
              <a:t> — alle objekter med temperatur over 0 K sender ut IR-stråling</a:t>
            </a:r>
          </a:p>
          <a:p>
            <a:pPr>
              <a:lnSpc>
                <a:spcPct val="90000"/>
              </a:lnSpc>
            </a:pPr>
            <a:r>
              <a:rPr lang="nb-NO" sz="1100" b="1" dirty="0"/>
              <a:t>Typiske bølgelengder:</a:t>
            </a:r>
            <a:endParaRPr lang="nb-NO" sz="1100" dirty="0"/>
          </a:p>
          <a:p>
            <a:pPr lvl="1">
              <a:lnSpc>
                <a:spcPct val="90000"/>
              </a:lnSpc>
            </a:pPr>
            <a:r>
              <a:rPr lang="nb-NO" sz="1100" dirty="0"/>
              <a:t>0.75 µm – 1000 µm</a:t>
            </a:r>
            <a:br>
              <a:rPr lang="nb-NO" sz="1100" dirty="0"/>
            </a:br>
            <a:r>
              <a:rPr lang="nb-NO" sz="1100" dirty="0"/>
              <a:t>(Nær-IR, Midt-IR, og Fjern-IR brukes i ulike sensorer)</a:t>
            </a:r>
          </a:p>
          <a:p>
            <a:pPr>
              <a:lnSpc>
                <a:spcPct val="90000"/>
              </a:lnSpc>
            </a:pPr>
            <a:r>
              <a:rPr lang="nb-NO" sz="1100" b="1" dirty="0"/>
              <a:t>Bruksområder:</a:t>
            </a:r>
            <a:endParaRPr lang="nb-NO" sz="1100" dirty="0"/>
          </a:p>
          <a:p>
            <a:pPr lvl="1">
              <a:lnSpc>
                <a:spcPct val="90000"/>
              </a:lnSpc>
            </a:pPr>
            <a:r>
              <a:rPr lang="nb-NO" sz="1100" dirty="0"/>
              <a:t>Fjernkontroller (IR-LED + mottaker)</a:t>
            </a:r>
          </a:p>
          <a:p>
            <a:pPr lvl="1">
              <a:lnSpc>
                <a:spcPct val="90000"/>
              </a:lnSpc>
            </a:pPr>
            <a:r>
              <a:rPr lang="nb-NO" sz="1100" dirty="0"/>
              <a:t>Bevegelsessensorer (PIR)</a:t>
            </a:r>
          </a:p>
          <a:p>
            <a:pPr lvl="1">
              <a:lnSpc>
                <a:spcPct val="90000"/>
              </a:lnSpc>
            </a:pPr>
            <a:r>
              <a:rPr lang="nb-NO" sz="1100" dirty="0"/>
              <a:t>Temperaturmåling og termiske kameraer</a:t>
            </a:r>
          </a:p>
          <a:p>
            <a:pPr lvl="1">
              <a:lnSpc>
                <a:spcPct val="90000"/>
              </a:lnSpc>
            </a:pPr>
            <a:r>
              <a:rPr lang="nb-NO" sz="1100" dirty="0"/>
              <a:t>Kommunikasjon mellom enheter over korte avstander</a:t>
            </a:r>
          </a:p>
          <a:p>
            <a:pPr>
              <a:lnSpc>
                <a:spcPct val="90000"/>
              </a:lnSpc>
            </a:pPr>
            <a:r>
              <a:rPr lang="nb-NO" sz="1100" b="1" dirty="0"/>
              <a:t>Viktige egenskaper:</a:t>
            </a:r>
            <a:endParaRPr lang="nb-NO" sz="1100" dirty="0"/>
          </a:p>
          <a:p>
            <a:pPr lvl="1">
              <a:lnSpc>
                <a:spcPct val="90000"/>
              </a:lnSpc>
            </a:pPr>
            <a:r>
              <a:rPr lang="nb-NO" sz="1100" dirty="0"/>
              <a:t>Krever fri sikt (IR går ikke gjennom vegger)</a:t>
            </a:r>
          </a:p>
          <a:p>
            <a:pPr lvl="1">
              <a:lnSpc>
                <a:spcPct val="90000"/>
              </a:lnSpc>
            </a:pPr>
            <a:r>
              <a:rPr lang="nb-NO" sz="1100" dirty="0"/>
              <a:t>Påvirkes av varme kilder og sollys</a:t>
            </a:r>
          </a:p>
          <a:p>
            <a:pPr lvl="1">
              <a:lnSpc>
                <a:spcPct val="90000"/>
              </a:lnSpc>
            </a:pPr>
            <a:r>
              <a:rPr lang="nb-NO" sz="1100" dirty="0"/>
              <a:t>Billig teknologi – brukes i mange husholdningsapparater</a:t>
            </a:r>
          </a:p>
          <a:p>
            <a:pPr>
              <a:lnSpc>
                <a:spcPct val="90000"/>
              </a:lnSpc>
            </a:pPr>
            <a:endParaRPr lang="nb-NO" sz="1100" dirty="0"/>
          </a:p>
        </p:txBody>
      </p:sp>
      <p:pic>
        <p:nvPicPr>
          <p:cNvPr id="8" name="Bilde 7" descr="Et bilde som inneholder kjøretøy, Landkjøretøy, bil, skjermbilde&#10;&#10;KI-generert innhold kan være feil.">
            <a:extLst>
              <a:ext uri="{FF2B5EF4-FFF2-40B4-BE49-F238E27FC236}">
                <a16:creationId xmlns:a16="http://schemas.microsoft.com/office/drawing/2014/main" id="{4A43E08D-72F7-8557-EF89-461FF9A5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36" r="27471" b="1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6CAC7F0-E4BD-0AAA-A2FC-17DD484E99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DB2C76C-40D0-0997-D406-B6B32A76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52E687-4FA3-84B3-ADE4-4A29B5FF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8310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7E772D-514B-880F-2FCE-F727E50C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Fra infrarød stråling til bevegelsesdeteksjon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E013F99-983C-2935-0AF3-67DF919B5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900" dirty="0"/>
              <a:t>Alle mennesker og dyr avgir varme → infrarød stråling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PIR-sensoren registrerer endringer i denne strålingen over tid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Når et varmt objekt beveger seg, endres IR-nivået i sensoren → utløser signal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Sensoren «ser» ikke objekter, men temperaturforskjeller i bevegelse</a:t>
            </a:r>
          </a:p>
          <a:p>
            <a:pPr>
              <a:lnSpc>
                <a:spcPct val="90000"/>
              </a:lnSpc>
            </a:pPr>
            <a:r>
              <a:rPr lang="nb-NO" sz="1900" dirty="0"/>
              <a:t>Krever derfor fri sikt og fungerer best innendørs</a:t>
            </a:r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6FA77EB7-2BFE-3B0B-D9B8-66AF2B899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48" y="1200151"/>
            <a:ext cx="1900904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12A4628-F864-5674-86CB-30790402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4AD2243-D419-CAA2-6CE0-20A26E42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07804DE-3029-A10B-37E8-5DDE3720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241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B567DB4-E7F7-79D4-EBCA-2491D7B8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400" dirty="0"/>
              <a:t>Grunnleggende prinsipp – hva en PIR-sensor er</a:t>
            </a:r>
            <a:endParaRPr lang="nb-NO" sz="2600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0DDD26E-F597-1CE3-A8DA-FAA61EC1B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 fontScale="85000" lnSpcReduction="10000"/>
          </a:bodyPr>
          <a:lstStyle/>
          <a:p>
            <a:r>
              <a:rPr lang="nb-NO" dirty="0"/>
              <a:t>PIR = Passive </a:t>
            </a:r>
            <a:r>
              <a:rPr lang="nb-NO" dirty="0" err="1"/>
              <a:t>Infrared</a:t>
            </a:r>
            <a:r>
              <a:rPr lang="nb-NO" dirty="0"/>
              <a:t> Sensor </a:t>
            </a:r>
          </a:p>
          <a:p>
            <a:r>
              <a:rPr lang="nb-NO" dirty="0"/>
              <a:t>Registrerer endringer i infrarød (IR) stråling fra objekter i bevegelse.</a:t>
            </a:r>
          </a:p>
          <a:p>
            <a:r>
              <a:rPr lang="nb-NO" dirty="0"/>
              <a:t>Den måler ikke temperatur direkte, men forskjeller i varmestråling i synsfeltet.</a:t>
            </a:r>
          </a:p>
          <a:p>
            <a:r>
              <a:rPr lang="nb-NO" dirty="0"/>
              <a:t>Typisk bruker to pyroelektriske elementer med motsatt polaritet:</a:t>
            </a:r>
          </a:p>
          <a:p>
            <a:pPr lvl="1"/>
            <a:r>
              <a:rPr lang="nb-NO" dirty="0"/>
              <a:t>Når begge ser samme varme, null signal.</a:t>
            </a:r>
          </a:p>
          <a:p>
            <a:pPr lvl="1"/>
            <a:r>
              <a:rPr lang="nb-NO" dirty="0"/>
              <a:t>Når bare én ser endring (bevegelse), genereres differansespenning.</a:t>
            </a: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2670072B-309C-A0FC-E65C-F4A374B67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515" y="1200151"/>
            <a:ext cx="3719969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152E945-A68E-48F7-D49E-E47C7F9AB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0268312-9D64-B4D2-E153-1A458BC3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7FA7247-B1D5-3F63-F3DA-616EED7A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0158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3EDEF4-75C1-C655-D574-3BA1479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Elektronisk grensesnitt mot </a:t>
            </a:r>
            <a:r>
              <a:rPr lang="nb-NO" dirty="0" err="1"/>
              <a:t>Arduino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8735C00-5406-6BBB-0FA4-23404813D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PIR har typisk tre pinner: </a:t>
            </a:r>
            <a:r>
              <a:rPr lang="nb-NO" b="1" dirty="0"/>
              <a:t>VCC, GND, OUT</a:t>
            </a:r>
            <a:r>
              <a:rPr lang="nb-NO" dirty="0"/>
              <a:t>.</a:t>
            </a:r>
          </a:p>
          <a:p>
            <a:r>
              <a:rPr lang="nb-NO" dirty="0"/>
              <a:t>OUT kobles til en </a:t>
            </a:r>
            <a:r>
              <a:rPr lang="nb-NO" b="1" dirty="0"/>
              <a:t>digital inngang</a:t>
            </a:r>
            <a:r>
              <a:rPr lang="nb-NO" dirty="0"/>
              <a:t> på </a:t>
            </a:r>
            <a:r>
              <a:rPr lang="nb-NO" dirty="0" err="1"/>
              <a:t>Arduino</a:t>
            </a:r>
            <a:r>
              <a:rPr lang="nb-NO" dirty="0"/>
              <a:t>.</a:t>
            </a:r>
          </a:p>
          <a:p>
            <a:r>
              <a:rPr lang="nb-NO" dirty="0"/>
              <a:t>Noen sensorer har </a:t>
            </a:r>
          </a:p>
          <a:p>
            <a:pPr lvl="1"/>
            <a:r>
              <a:rPr lang="nb-NO" dirty="0"/>
              <a:t>Analog versjon.</a:t>
            </a:r>
          </a:p>
          <a:p>
            <a:pPr lvl="1"/>
            <a:r>
              <a:rPr lang="nb-NO" dirty="0"/>
              <a:t>Justerbare </a:t>
            </a:r>
            <a:r>
              <a:rPr lang="nb-NO" dirty="0" err="1"/>
              <a:t>potmetere</a:t>
            </a:r>
            <a:r>
              <a:rPr lang="nb-NO" dirty="0"/>
              <a:t>:</a:t>
            </a:r>
          </a:p>
          <a:p>
            <a:pPr lvl="2"/>
            <a:r>
              <a:rPr lang="nb-NO" b="1" dirty="0" err="1"/>
              <a:t>Sensitivity</a:t>
            </a:r>
            <a:r>
              <a:rPr lang="nb-NO" b="1" dirty="0"/>
              <a:t> (range)</a:t>
            </a:r>
            <a:r>
              <a:rPr lang="nb-NO" dirty="0"/>
              <a:t> – hvor langt den ser.</a:t>
            </a:r>
          </a:p>
          <a:p>
            <a:pPr lvl="2"/>
            <a:r>
              <a:rPr lang="nb-NO" b="1" dirty="0" err="1"/>
              <a:t>Delay</a:t>
            </a:r>
            <a:r>
              <a:rPr lang="nb-NO" b="1" dirty="0"/>
              <a:t> time</a:t>
            </a:r>
            <a:r>
              <a:rPr lang="nb-NO" dirty="0"/>
              <a:t> – hvor lenge signalet holder seg høyt etter bevegelse.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8072D98-8C01-FD97-F7C6-E67CC58C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FDDE255-7FB0-6080-ACA7-06DEF0AC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DD979E8-41A6-06EF-C993-5FE78CDB4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288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1226C62-CD52-03FB-5F65-CC72CB1A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Praktisk anvendelse og begrensninger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BE44C3-5794-7052-8F1C-93D3F811F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/>
              <a:t>Brukseksempler: </a:t>
            </a:r>
          </a:p>
          <a:p>
            <a:pPr lvl="1"/>
            <a:r>
              <a:rPr lang="nb-NO" dirty="0"/>
              <a:t>alarm, </a:t>
            </a:r>
          </a:p>
          <a:p>
            <a:pPr lvl="1"/>
            <a:r>
              <a:rPr lang="nb-NO" dirty="0"/>
              <a:t>automatisk lys, </a:t>
            </a:r>
          </a:p>
          <a:p>
            <a:pPr lvl="1"/>
            <a:r>
              <a:rPr lang="nb-NO" dirty="0"/>
              <a:t>energioptimalisering.</a:t>
            </a:r>
          </a:p>
          <a:p>
            <a:r>
              <a:rPr lang="nb-NO" dirty="0"/>
              <a:t>Begrensninger:</a:t>
            </a:r>
          </a:p>
          <a:p>
            <a:pPr lvl="1"/>
            <a:r>
              <a:rPr lang="nb-NO" dirty="0"/>
              <a:t>Reagerer bare på varme bevegelser, ikke døde objekter.</a:t>
            </a:r>
          </a:p>
          <a:p>
            <a:pPr lvl="1"/>
            <a:r>
              <a:rPr lang="nb-NO" dirty="0"/>
              <a:t>Vegger og glass stopper IR.</a:t>
            </a:r>
          </a:p>
          <a:p>
            <a:pPr lvl="1"/>
            <a:r>
              <a:rPr lang="nb-NO" dirty="0"/>
              <a:t>Treg respons (sekund-nivå).</a:t>
            </a:r>
          </a:p>
          <a:p>
            <a:pPr lvl="1"/>
            <a:r>
              <a:rPr lang="nb-NO" dirty="0"/>
              <a:t>Temperaturdrift i varme rom kan gi feil.</a:t>
            </a:r>
          </a:p>
          <a:p>
            <a:pPr lvl="1"/>
            <a:r>
              <a:rPr lang="nb-NO" dirty="0"/>
              <a:t>Kombiner gjerne med LDR eller ultralydsensor for mer robust bevegelsesregistrering.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8592C5A-D9EB-37A8-4147-F2B3DDBEC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09.10.2025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E2F010C-09C3-F832-7605-983FBB55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9809069-98DE-F61B-EE01-736F21BD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8016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975832-7482-13B6-E7AE-32C91E24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Hva er digital input?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EE503B1-3B88-EE8D-FF44-969312D3C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b-NO" b="1" dirty="0"/>
              <a:t>Digital input</a:t>
            </a:r>
            <a:r>
              <a:rPr lang="nb-NO" dirty="0"/>
              <a:t> betyr at </a:t>
            </a:r>
            <a:r>
              <a:rPr lang="nb-NO" dirty="0" err="1"/>
              <a:t>Arduino</a:t>
            </a:r>
            <a:r>
              <a:rPr lang="nb-NO" dirty="0"/>
              <a:t> </a:t>
            </a:r>
            <a:r>
              <a:rPr lang="nb-NO" b="1" dirty="0"/>
              <a:t>leser om et signal er PÅ eller AV</a:t>
            </a:r>
            <a:r>
              <a:rPr lang="nb-NO" dirty="0"/>
              <a:t>.</a:t>
            </a:r>
            <a:br>
              <a:rPr lang="nb-NO" dirty="0"/>
            </a:br>
            <a:r>
              <a:rPr lang="nb-NO" dirty="0"/>
              <a:t>Den kan bare registrere </a:t>
            </a:r>
            <a:r>
              <a:rPr lang="nb-NO" b="1" dirty="0"/>
              <a:t>to tilstander:</a:t>
            </a:r>
            <a:endParaRPr lang="nb-NO" dirty="0"/>
          </a:p>
          <a:p>
            <a:pPr lvl="1"/>
            <a:r>
              <a:rPr lang="nb-NO" b="1" dirty="0"/>
              <a:t>HIGH</a:t>
            </a:r>
            <a:r>
              <a:rPr lang="nb-NO" dirty="0"/>
              <a:t> – når pinnen får spenning (typisk 5 V)</a:t>
            </a:r>
          </a:p>
          <a:p>
            <a:pPr lvl="1"/>
            <a:r>
              <a:rPr lang="nb-NO" b="1" dirty="0"/>
              <a:t>LOW</a:t>
            </a:r>
            <a:r>
              <a:rPr lang="nb-NO" dirty="0"/>
              <a:t> – når pinnen er koblet til jord (0 V)</a:t>
            </a:r>
          </a:p>
          <a:p>
            <a:r>
              <a:rPr lang="nb-NO" b="1" dirty="0"/>
              <a:t>Typiske eksempler på digital input:</a:t>
            </a:r>
            <a:endParaRPr lang="nb-NO" dirty="0"/>
          </a:p>
          <a:p>
            <a:pPr lvl="1"/>
            <a:r>
              <a:rPr lang="nb-NO" dirty="0"/>
              <a:t>Knapper og brytere</a:t>
            </a:r>
          </a:p>
          <a:p>
            <a:pPr lvl="1"/>
            <a:r>
              <a:rPr lang="nb-NO" dirty="0"/>
              <a:t>Bevegelsessensorer (PIR)</a:t>
            </a:r>
          </a:p>
          <a:p>
            <a:pPr lvl="1"/>
            <a:r>
              <a:rPr lang="nb-NO" dirty="0"/>
              <a:t>Magnetkontakter</a:t>
            </a:r>
          </a:p>
          <a:p>
            <a:pPr lvl="1"/>
            <a:r>
              <a:rPr lang="nb-NO" dirty="0"/>
              <a:t>Enkle lys- eller fuktsensorer med digital utgang</a:t>
            </a:r>
          </a:p>
          <a:p>
            <a:r>
              <a:rPr lang="nb-NO" b="1" dirty="0"/>
              <a:t>Egenskaper:</a:t>
            </a:r>
            <a:endParaRPr lang="nb-NO" dirty="0"/>
          </a:p>
          <a:p>
            <a:pPr lvl="1"/>
            <a:r>
              <a:rPr lang="nb-NO" dirty="0"/>
              <a:t>Rask respons – ingen måling av spenning, bare sjekk om signalet er på/av.</a:t>
            </a:r>
          </a:p>
          <a:p>
            <a:pPr lvl="1"/>
            <a:r>
              <a:rPr lang="nb-NO" dirty="0"/>
              <a:t>Brukes når du </a:t>
            </a:r>
            <a:r>
              <a:rPr lang="nb-NO" b="1" dirty="0"/>
              <a:t>ikke trenger mellomverdier</a:t>
            </a:r>
            <a:r>
              <a:rPr lang="nb-NO" dirty="0"/>
              <a:t>, bare “ja” eller “nei”.</a:t>
            </a:r>
          </a:p>
          <a:p>
            <a:r>
              <a:rPr lang="nb-NO" dirty="0"/>
              <a:t>💡 </a:t>
            </a:r>
            <a:r>
              <a:rPr lang="nb-NO" i="1" dirty="0"/>
              <a:t>Digital input handler om tilstand, ikke styrke.</a:t>
            </a:r>
            <a:br>
              <a:rPr lang="nb-NO" dirty="0"/>
            </a:br>
            <a:r>
              <a:rPr lang="nb-NO" dirty="0"/>
              <a:t>(Analog input måler hvor sterk spenningen er.)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C1D68DB-B516-DF90-70D9-7D1E25CE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CD1DE5F-13C1-BE2D-8B5B-13B647FE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CBFBF13-814D-61E0-A392-FF83D1E2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9854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6B427FA-4C81-9950-521F-7E2F519D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b="1" dirty="0"/>
              <a:t>Digital Input: </a:t>
            </a:r>
            <a:r>
              <a:rPr lang="nb-NO" sz="2600" dirty="0" err="1"/>
              <a:t>digitalRead</a:t>
            </a:r>
            <a:r>
              <a:rPr lang="nb-NO" sz="2600" dirty="0"/>
              <a:t>()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50D0F98-2B3E-30FC-50B5-3DE90ABA4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sz="1600" dirty="0"/>
              <a:t>Leser tilstanden (HIGH eller LOW) fra en digital pin.</a:t>
            </a:r>
          </a:p>
          <a:p>
            <a:r>
              <a:rPr lang="nb-NO" sz="1600" dirty="0"/>
              <a:t>Brukes til å lese knapper, brytere eller sensorer som har to tilstander (på/av).</a:t>
            </a:r>
          </a:p>
          <a:p>
            <a:r>
              <a:rPr lang="nb-NO" sz="1600" dirty="0"/>
              <a:t>Returnerer:</a:t>
            </a:r>
          </a:p>
          <a:p>
            <a:pPr lvl="1"/>
            <a:r>
              <a:rPr lang="nb-NO" sz="1600" dirty="0"/>
              <a:t>HIGH (1) når pinnen får spenning.</a:t>
            </a:r>
          </a:p>
          <a:p>
            <a:pPr lvl="1"/>
            <a:r>
              <a:rPr lang="nb-NO" sz="1600" dirty="0"/>
              <a:t>LOW (0) når pinnen er koblet til jord (0 V).</a:t>
            </a:r>
          </a:p>
          <a:p>
            <a:pPr marL="0" indent="0">
              <a:buNone/>
            </a:pPr>
            <a:r>
              <a:rPr lang="nb-NO" sz="1600" dirty="0"/>
              <a:t>Tips: Bruk </a:t>
            </a:r>
            <a:br>
              <a:rPr lang="nb-NO" sz="1600" dirty="0"/>
            </a:br>
            <a:r>
              <a:rPr lang="nb-NO" sz="1600" dirty="0" err="1"/>
              <a:t>pinMode</a:t>
            </a:r>
            <a:r>
              <a:rPr lang="nb-NO" sz="1600" dirty="0"/>
              <a:t>(</a:t>
            </a:r>
            <a:r>
              <a:rPr lang="nb-NO" sz="1600" dirty="0" err="1"/>
              <a:t>buttonPin</a:t>
            </a:r>
            <a:r>
              <a:rPr lang="nb-NO" sz="1600" dirty="0"/>
              <a:t>, INPUT_PULLUP); </a:t>
            </a:r>
            <a:br>
              <a:rPr lang="nb-NO" sz="1600" dirty="0"/>
            </a:br>
            <a:r>
              <a:rPr lang="nb-NO" sz="1600" dirty="0"/>
              <a:t>for å aktivere innebygd motstand — da slipper du ekstern motstand mot +5 V.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3743A451-2D87-8863-5412-15573BDB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31390"/>
            <a:ext cx="4038600" cy="2731994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6935EEF-ADC7-E1AD-7B0C-0E2262B8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13.10.2025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5C9C816-E609-7EB4-835A-FC7265EE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C11F2B9-6C07-AB3A-F6FD-59DD47E5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908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EE9504C-5D8E-3712-9D86-2793513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Stabilt signal med pull-up motstand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D843F28-2944-F9B4-A00D-DA298E9B8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b-NO" dirty="0"/>
              <a:t>Når en digital inngang ikke er koblet til verken 5 V eller GND,</a:t>
            </a:r>
            <a:br>
              <a:rPr lang="nb-NO" dirty="0"/>
            </a:br>
            <a:r>
              <a:rPr lang="nb-NO" dirty="0"/>
              <a:t>“flyter” signalet og kan gi tilfeldige målinger (støy).</a:t>
            </a:r>
          </a:p>
          <a:p>
            <a:r>
              <a:rPr lang="nb-NO" dirty="0"/>
              <a:t>Dette kalles en </a:t>
            </a:r>
            <a:r>
              <a:rPr lang="nb-NO" b="1" dirty="0" err="1"/>
              <a:t>floating</a:t>
            </a:r>
            <a:r>
              <a:rPr lang="nb-NO" b="1" dirty="0"/>
              <a:t> input</a:t>
            </a:r>
            <a:r>
              <a:rPr lang="nb-NO" dirty="0"/>
              <a:t>.</a:t>
            </a:r>
          </a:p>
          <a:p>
            <a:r>
              <a:rPr lang="nb-NO" dirty="0"/>
              <a:t>Bruk en </a:t>
            </a:r>
            <a:r>
              <a:rPr lang="nb-NO" b="1" dirty="0"/>
              <a:t>pull-up motstand</a:t>
            </a:r>
            <a:r>
              <a:rPr lang="nb-NO" dirty="0"/>
              <a:t> (eller pull-</a:t>
            </a:r>
            <a:r>
              <a:rPr lang="nb-NO" dirty="0" err="1"/>
              <a:t>down</a:t>
            </a:r>
            <a:r>
              <a:rPr lang="nb-NO" dirty="0"/>
              <a:t>) for å holde pinnen stabil</a:t>
            </a:r>
            <a:br>
              <a:rPr lang="nb-NO" dirty="0"/>
            </a:br>
            <a:r>
              <a:rPr lang="nb-NO" dirty="0"/>
              <a:t>når knappen ikke trykkes.</a:t>
            </a:r>
          </a:p>
          <a:p>
            <a:r>
              <a:rPr lang="nb-NO" b="1" dirty="0"/>
              <a:t>Pull-up:</a:t>
            </a:r>
            <a:r>
              <a:rPr lang="nb-NO" dirty="0"/>
              <a:t> kobler pinnen svakt til 5 V → leser HIGH når knappen er åpen</a:t>
            </a:r>
          </a:p>
          <a:p>
            <a:r>
              <a:rPr lang="nb-NO" b="1" dirty="0"/>
              <a:t>Pull-</a:t>
            </a:r>
            <a:r>
              <a:rPr lang="nb-NO" b="1" dirty="0" err="1"/>
              <a:t>down</a:t>
            </a:r>
            <a:r>
              <a:rPr lang="nb-NO" b="1" dirty="0"/>
              <a:t>:</a:t>
            </a:r>
            <a:r>
              <a:rPr lang="nb-NO" dirty="0"/>
              <a:t> kobler pinnen svakt til GND → leser LOW når knappen er åpen</a:t>
            </a:r>
          </a:p>
          <a:p>
            <a:r>
              <a:rPr lang="nb-NO" b="1" dirty="0"/>
              <a:t>Innebygd løsning:</a:t>
            </a:r>
            <a:br>
              <a:rPr lang="nb-NO" dirty="0"/>
            </a:br>
            <a:r>
              <a:rPr lang="nb-NO" dirty="0"/>
              <a:t>	</a:t>
            </a:r>
            <a:r>
              <a:rPr lang="nb-NO" dirty="0" err="1"/>
              <a:t>Arduino</a:t>
            </a:r>
            <a:r>
              <a:rPr lang="nb-NO" dirty="0"/>
              <a:t> har innebygd pull-up som aktiveres slik:</a:t>
            </a:r>
          </a:p>
          <a:p>
            <a:pPr lvl="1"/>
            <a:r>
              <a:rPr lang="nb-NO" dirty="0" err="1"/>
              <a:t>pinMode</a:t>
            </a:r>
            <a:r>
              <a:rPr lang="nb-NO" dirty="0"/>
              <a:t>(</a:t>
            </a:r>
            <a:r>
              <a:rPr lang="nb-NO" dirty="0" err="1"/>
              <a:t>buttonPin</a:t>
            </a:r>
            <a:r>
              <a:rPr lang="nb-NO" dirty="0"/>
              <a:t>, INPUT_PULLUP);</a:t>
            </a:r>
          </a:p>
          <a:p>
            <a:pPr lvl="1"/>
            <a:r>
              <a:rPr lang="nb-NO" dirty="0"/>
              <a:t>Da trenger du ingen ekstern motstand.</a:t>
            </a:r>
            <a:br>
              <a:rPr lang="nb-NO" dirty="0"/>
            </a:br>
            <a:r>
              <a:rPr lang="nb-NO" dirty="0"/>
              <a:t>Knappen kobles da mellom pinnen og </a:t>
            </a:r>
            <a:r>
              <a:rPr lang="nb-NO" b="1" dirty="0"/>
              <a:t>GND</a:t>
            </a:r>
            <a:r>
              <a:rPr lang="nb-NO" dirty="0"/>
              <a:t>, ikke 5 V.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7F12EA6-9B1E-3735-1467-5D09A378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249D66-64E0-E71F-C8A9-9412BA18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53E5D75-B6C3-573F-F52C-7743E1E7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2578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D3B226-1016-EA73-D250-8E9E336E2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Funksjonen </a:t>
            </a:r>
            <a:r>
              <a:rPr lang="nb-NO" dirty="0" err="1"/>
              <a:t>millis</a:t>
            </a:r>
            <a:r>
              <a:rPr lang="nb-NO" dirty="0"/>
              <a:t>()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BE14D5A-583F-4F07-FD38-4C5B1A44D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b-NO" dirty="0" err="1"/>
              <a:t>millis</a:t>
            </a:r>
            <a:r>
              <a:rPr lang="nb-NO" dirty="0"/>
              <a:t>() returnerer </a:t>
            </a:r>
            <a:r>
              <a:rPr lang="nb-NO" b="1" dirty="0"/>
              <a:t>hvor mange millisekunder</a:t>
            </a:r>
            <a:r>
              <a:rPr lang="nb-NO" dirty="0"/>
              <a:t> som har gått siden </a:t>
            </a:r>
            <a:r>
              <a:rPr lang="nb-NO" dirty="0" err="1"/>
              <a:t>Arduino</a:t>
            </a:r>
            <a:r>
              <a:rPr lang="nb-NO" dirty="0"/>
              <a:t> startet programmet.</a:t>
            </a:r>
          </a:p>
          <a:p>
            <a:r>
              <a:rPr lang="nb-NO" dirty="0"/>
              <a:t>Verdien øker kontinuerlig (0, 1 000, 2 000 … for hvert sekund).</a:t>
            </a:r>
          </a:p>
          <a:p>
            <a:r>
              <a:rPr lang="nb-NO" dirty="0"/>
              <a:t>Brukes for å </a:t>
            </a:r>
            <a:r>
              <a:rPr lang="nb-NO" b="1" dirty="0"/>
              <a:t>måle tid uten å stoppe programmet</a:t>
            </a:r>
            <a:r>
              <a:rPr lang="nb-NO" dirty="0"/>
              <a:t>.</a:t>
            </a:r>
          </a:p>
          <a:p>
            <a:r>
              <a:rPr lang="nb-NO" b="1" dirty="0"/>
              <a:t>Eksempel:</a:t>
            </a:r>
            <a:endParaRPr lang="nb-NO" dirty="0"/>
          </a:p>
          <a:p>
            <a:pPr lvl="1"/>
            <a:r>
              <a:rPr lang="nb-NO" dirty="0" err="1"/>
              <a:t>unsigned</a:t>
            </a:r>
            <a:r>
              <a:rPr lang="nb-NO" dirty="0"/>
              <a:t> </a:t>
            </a:r>
            <a:r>
              <a:rPr lang="nb-NO" dirty="0" err="1"/>
              <a:t>long</a:t>
            </a:r>
            <a:r>
              <a:rPr lang="nb-NO" dirty="0"/>
              <a:t> tid = </a:t>
            </a:r>
            <a:r>
              <a:rPr lang="nb-NO" dirty="0" err="1"/>
              <a:t>millis</a:t>
            </a:r>
            <a:r>
              <a:rPr lang="nb-NO" dirty="0"/>
              <a:t>();</a:t>
            </a:r>
          </a:p>
          <a:p>
            <a:pPr lvl="1"/>
            <a:r>
              <a:rPr lang="nb-NO" dirty="0" err="1"/>
              <a:t>Serial.println</a:t>
            </a:r>
            <a:r>
              <a:rPr lang="nb-NO" dirty="0"/>
              <a:t>(tid);</a:t>
            </a:r>
          </a:p>
          <a:p>
            <a:r>
              <a:rPr lang="nb-NO" b="1" dirty="0"/>
              <a:t>Hvorfor ikke </a:t>
            </a:r>
            <a:r>
              <a:rPr lang="nb-NO" b="1" dirty="0" err="1"/>
              <a:t>delay</a:t>
            </a:r>
            <a:r>
              <a:rPr lang="nb-NO" b="1" dirty="0"/>
              <a:t>()?</a:t>
            </a:r>
            <a:endParaRPr lang="nb-NO" dirty="0"/>
          </a:p>
          <a:p>
            <a:pPr lvl="1"/>
            <a:r>
              <a:rPr lang="nb-NO" dirty="0" err="1"/>
              <a:t>delay</a:t>
            </a:r>
            <a:r>
              <a:rPr lang="nb-NO" dirty="0"/>
              <a:t>() </a:t>
            </a:r>
            <a:r>
              <a:rPr lang="nb-NO" b="1" dirty="0"/>
              <a:t>stanser hele programmet</a:t>
            </a:r>
            <a:r>
              <a:rPr lang="nb-NO" dirty="0"/>
              <a:t>.</a:t>
            </a:r>
          </a:p>
          <a:p>
            <a:pPr lvl="1"/>
            <a:r>
              <a:rPr lang="nb-NO" dirty="0" err="1"/>
              <a:t>millis</a:t>
            </a:r>
            <a:r>
              <a:rPr lang="nb-NO" dirty="0"/>
              <a:t>() lar deg </a:t>
            </a:r>
            <a:r>
              <a:rPr lang="nb-NO" b="1" dirty="0"/>
              <a:t>fortsette å lese sensorer</a:t>
            </a:r>
            <a:r>
              <a:rPr lang="nb-NO" dirty="0"/>
              <a:t> og utføre andre oppgaver samtidig.</a:t>
            </a:r>
          </a:p>
          <a:p>
            <a:pPr marL="0" indent="0">
              <a:buNone/>
            </a:pPr>
            <a:r>
              <a:rPr lang="nb-NO" dirty="0"/>
              <a:t>💡 </a:t>
            </a:r>
            <a:r>
              <a:rPr lang="nb-NO" i="1" dirty="0"/>
              <a:t>Bruk </a:t>
            </a:r>
            <a:r>
              <a:rPr lang="nb-NO" i="1" dirty="0" err="1"/>
              <a:t>millis</a:t>
            </a:r>
            <a:r>
              <a:rPr lang="nb-NO" i="1" dirty="0"/>
              <a:t>() når du trenger å måle hvor lenge noe har vært på, uten å “fryse” programmet.</a:t>
            </a:r>
            <a:endParaRPr lang="nb-NO" dirty="0"/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CD581E9-3787-B85D-FB7C-92738DDE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13.10.2025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011FFA2-4106-2AB1-00AF-FF9E14AA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16FD49C-9F6E-423E-AC5B-1C63A0AE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011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7E21CB9-0EF2-260B-2C4F-6F98C975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Lagre tidspunktet for en hendelse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BB63895-2EB3-6CE0-08B2-2126DB6AC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For å vite hvor lenge det er siden noe skjedde, må vi </a:t>
            </a:r>
            <a:r>
              <a:rPr lang="nb-NO" b="1" dirty="0"/>
              <a:t>lagre tidspunktet</a:t>
            </a:r>
            <a:r>
              <a:rPr lang="nb-NO" dirty="0"/>
              <a:t> fra </a:t>
            </a:r>
            <a:r>
              <a:rPr lang="nb-NO" dirty="0" err="1"/>
              <a:t>millis</a:t>
            </a:r>
            <a:r>
              <a:rPr lang="nb-NO" dirty="0"/>
              <a:t>().</a:t>
            </a:r>
          </a:p>
          <a:p>
            <a:r>
              <a:rPr lang="nb-NO" dirty="0" err="1"/>
              <a:t>lastMotion</a:t>
            </a:r>
            <a:r>
              <a:rPr lang="nb-NO" dirty="0"/>
              <a:t> husker tidspunktet for siste bevegelse.</a:t>
            </a:r>
          </a:p>
          <a:p>
            <a:r>
              <a:rPr lang="nb-NO" dirty="0" err="1"/>
              <a:t>millis</a:t>
            </a:r>
            <a:r>
              <a:rPr lang="nb-NO" dirty="0"/>
              <a:t>() - </a:t>
            </a:r>
            <a:r>
              <a:rPr lang="nb-NO" dirty="0" err="1"/>
              <a:t>lastMotion</a:t>
            </a:r>
            <a:r>
              <a:rPr lang="nb-NO" dirty="0"/>
              <a:t> viser hvor lenge siden hendelsen.</a:t>
            </a:r>
          </a:p>
          <a:p>
            <a:r>
              <a:rPr lang="nb-NO" dirty="0"/>
              <a:t>På denne måten kan vi lage “tidtakere” uten </a:t>
            </a:r>
            <a:r>
              <a:rPr lang="nb-NO" dirty="0" err="1"/>
              <a:t>delay</a:t>
            </a:r>
            <a:r>
              <a:rPr lang="nb-NO" dirty="0"/>
              <a:t>().</a:t>
            </a: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E437DC03-5E9A-3AEA-1EF7-6FD77B37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9655"/>
            <a:ext cx="4038600" cy="2575463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3E02BB6-1717-8DBA-A57E-7F155127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13.10.2025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B6638CF-4048-4902-5455-7153CEC2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E8C77BC-0D2E-1976-A55E-3EE92604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79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DADD49D-CD93-3AB5-DFE6-BA84AF92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Løs oppgaven som du ville gjort på eksamen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2705F04-4BE0-150F-63B8-C53A1D4B5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nb-NO" b="1" dirty="0"/>
              <a:t>Tolke oppgaven</a:t>
            </a:r>
          </a:p>
          <a:p>
            <a:pPr lvl="1"/>
            <a:r>
              <a:rPr lang="nb-NO" dirty="0"/>
              <a:t>Les teksten nøye – hva skal faktisk </a:t>
            </a:r>
            <a:r>
              <a:rPr lang="nb-NO" b="1" dirty="0"/>
              <a:t>skje</a:t>
            </a:r>
            <a:r>
              <a:rPr lang="nb-NO" dirty="0"/>
              <a:t>?</a:t>
            </a:r>
          </a:p>
          <a:p>
            <a:pPr lvl="2"/>
            <a:r>
              <a:rPr lang="nb-NO" dirty="0"/>
              <a:t>Hvilke </a:t>
            </a:r>
            <a:r>
              <a:rPr lang="nb-NO" b="1" dirty="0"/>
              <a:t>handlinger</a:t>
            </a:r>
            <a:r>
              <a:rPr lang="nb-NO" dirty="0"/>
              <a:t> skal </a:t>
            </a:r>
            <a:r>
              <a:rPr lang="nb-NO" dirty="0" err="1"/>
              <a:t>Arduino</a:t>
            </a:r>
            <a:r>
              <a:rPr lang="nb-NO" dirty="0"/>
              <a:t> utføre?</a:t>
            </a:r>
          </a:p>
          <a:p>
            <a:pPr lvl="2"/>
            <a:r>
              <a:rPr lang="nb-NO" dirty="0"/>
              <a:t>Skal det </a:t>
            </a:r>
            <a:r>
              <a:rPr lang="nb-NO" b="1" dirty="0"/>
              <a:t>reagere på noe</a:t>
            </a:r>
            <a:r>
              <a:rPr lang="nb-NO" dirty="0"/>
              <a:t>, eller bare gå i en </a:t>
            </a:r>
            <a:r>
              <a:rPr lang="nb-NO" b="1" dirty="0"/>
              <a:t>løkke</a:t>
            </a:r>
            <a:r>
              <a:rPr lang="nb-NO" dirty="0"/>
              <a:t>?</a:t>
            </a:r>
          </a:p>
          <a:p>
            <a:pPr lvl="1"/>
            <a:r>
              <a:rPr lang="nb-NO" dirty="0"/>
              <a:t>Skriv gjerne en til to setninger som beskriver oppførselen med egne ord.</a:t>
            </a:r>
          </a:p>
          <a:p>
            <a:r>
              <a:rPr lang="nb-NO" b="1" dirty="0"/>
              <a:t>Bryt det ned i delproblemer</a:t>
            </a:r>
          </a:p>
          <a:p>
            <a:pPr lvl="1"/>
            <a:r>
              <a:rPr lang="nb-NO" dirty="0"/>
              <a:t>Hva må du </a:t>
            </a:r>
            <a:r>
              <a:rPr lang="nb-NO" b="1" dirty="0"/>
              <a:t>vite</a:t>
            </a:r>
            <a:r>
              <a:rPr lang="nb-NO" dirty="0"/>
              <a:t> (antall LED, farger, rekkefølge)?</a:t>
            </a:r>
          </a:p>
          <a:p>
            <a:pPr lvl="1"/>
            <a:r>
              <a:rPr lang="nb-NO" dirty="0"/>
              <a:t>Hva må du </a:t>
            </a:r>
            <a:r>
              <a:rPr lang="nb-NO" b="1" dirty="0"/>
              <a:t>gjøre først</a:t>
            </a:r>
            <a:r>
              <a:rPr lang="nb-NO" dirty="0"/>
              <a:t> (oppsett, bibliotek, variabler)?</a:t>
            </a:r>
          </a:p>
          <a:p>
            <a:pPr lvl="1"/>
            <a:r>
              <a:rPr lang="nb-NO" dirty="0"/>
              <a:t>Hvilke </a:t>
            </a:r>
            <a:r>
              <a:rPr lang="nb-NO" b="1" dirty="0"/>
              <a:t>funksjoner eller løkker</a:t>
            </a:r>
            <a:r>
              <a:rPr lang="nb-NO" dirty="0"/>
              <a:t> kan brukes?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Planlegg logikken før du koder</a:t>
            </a:r>
          </a:p>
          <a:p>
            <a:pPr lvl="1"/>
            <a:r>
              <a:rPr lang="nb-NO" dirty="0"/>
              <a:t>Tegn en liten </a:t>
            </a:r>
            <a:r>
              <a:rPr lang="nb-NO" b="1" dirty="0"/>
              <a:t>flyt</a:t>
            </a:r>
            <a:r>
              <a:rPr lang="nb-NO" dirty="0"/>
              <a:t>: start → tenn LED → vent → endre farge → gjenta.</a:t>
            </a:r>
          </a:p>
          <a:p>
            <a:pPr lvl="1"/>
            <a:r>
              <a:rPr lang="nb-NO" dirty="0"/>
              <a:t>Skriv gjerne pseudokode først (uten detaljer).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Implementer trinn for trinn</a:t>
            </a:r>
          </a:p>
          <a:p>
            <a:pPr lvl="1"/>
            <a:r>
              <a:rPr lang="nb-NO" dirty="0"/>
              <a:t>Start med noe som virker (én LED).</a:t>
            </a:r>
          </a:p>
          <a:p>
            <a:pPr lvl="1"/>
            <a:r>
              <a:rPr lang="nb-NO" dirty="0"/>
              <a:t>Legg til flere funksjoner gradvis (løkke, farger, knapp, osv.).</a:t>
            </a:r>
          </a:p>
          <a:p>
            <a:pPr lvl="1"/>
            <a:r>
              <a:rPr lang="nb-NO" dirty="0"/>
              <a:t>Test hvert steg før du går videre.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Test og forbedre</a:t>
            </a:r>
          </a:p>
          <a:p>
            <a:pPr lvl="1"/>
            <a:r>
              <a:rPr lang="nb-NO" dirty="0"/>
              <a:t>Virker det som forventet?</a:t>
            </a:r>
          </a:p>
          <a:p>
            <a:pPr lvl="1"/>
            <a:r>
              <a:rPr lang="nb-NO" dirty="0"/>
              <a:t>Juster </a:t>
            </a:r>
            <a:r>
              <a:rPr lang="nb-NO" b="1" dirty="0"/>
              <a:t>timing</a:t>
            </a:r>
            <a:r>
              <a:rPr lang="nb-NO" dirty="0"/>
              <a:t>, </a:t>
            </a:r>
            <a:r>
              <a:rPr lang="nb-NO" b="1" dirty="0"/>
              <a:t>farger</a:t>
            </a:r>
            <a:r>
              <a:rPr lang="nb-NO" dirty="0"/>
              <a:t>, </a:t>
            </a:r>
            <a:r>
              <a:rPr lang="nb-NO" b="1" dirty="0"/>
              <a:t>rekkefølge</a:t>
            </a:r>
            <a:r>
              <a:rPr lang="nb-NO" dirty="0"/>
              <a:t> for ønsket effekt.</a:t>
            </a:r>
          </a:p>
          <a:p>
            <a:pPr lvl="1"/>
            <a:r>
              <a:rPr lang="nb-NO" dirty="0"/>
              <a:t>Kommenter koden slik at du forstår hva hvert steg gjør.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A731F46-E0DE-2B62-3AF8-829ADC2C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D158EFE-C774-03C4-9B3B-4638F06A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F6EA8D2-35BC-B9AA-1C17-F68F32B0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  <p:pic>
        <p:nvPicPr>
          <p:cNvPr id="8" name="Bilde 7" descr="Et bilde som inneholder person, klær, møbler, Læring&#10;&#10;KI-generert innhold kan være feil.">
            <a:extLst>
              <a:ext uri="{FF2B5EF4-FFF2-40B4-BE49-F238E27FC236}">
                <a16:creationId xmlns:a16="http://schemas.microsoft.com/office/drawing/2014/main" id="{FEB81D34-1ED0-0913-49EC-877FC4A13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11512"/>
            <a:ext cx="440871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5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9B335-5D27-C544-3B72-EFB68AD1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Smart korridor med PIR, LDR og LED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9E3B56A-6D3E-E71A-513E-8D3547AB7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Du skal designe et lysstyringssystem for en korridor på Høgskolen i Østfold. </a:t>
            </a:r>
            <a:br>
              <a:rPr lang="nb-NO" dirty="0"/>
            </a:br>
            <a:endParaRPr lang="nb-NO" dirty="0"/>
          </a:p>
          <a:p>
            <a:pPr marL="0" indent="0">
              <a:buNone/>
            </a:pPr>
            <a:r>
              <a:rPr lang="nb-NO" dirty="0"/>
              <a:t>Systemet skal reagere på </a:t>
            </a:r>
            <a:r>
              <a:rPr lang="nb-NO" b="1" dirty="0"/>
              <a:t>bevegelse</a:t>
            </a:r>
            <a:r>
              <a:rPr lang="nb-NO" dirty="0"/>
              <a:t> i mørket.</a:t>
            </a:r>
            <a:br>
              <a:rPr lang="nb-NO" dirty="0"/>
            </a:br>
            <a:endParaRPr lang="nb-NO" dirty="0"/>
          </a:p>
          <a:p>
            <a:pPr marL="0" indent="0">
              <a:buNone/>
            </a:pPr>
            <a:r>
              <a:rPr lang="nb-NO" dirty="0"/>
              <a:t>En LED viser når det registreres bevegelse.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Det skal holdes lyst i 10 sekunder etter </a:t>
            </a:r>
            <a:r>
              <a:rPr lang="nb-NO" b="1" dirty="0"/>
              <a:t>hver</a:t>
            </a:r>
            <a:r>
              <a:rPr lang="nb-NO" dirty="0"/>
              <a:t> bevegelse.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3580C79-9949-965A-88CB-4C3F5A45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C4BC81C-C5FA-34CE-FEF4-EE758FCD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6E39638-0975-BB9E-D1EE-7071674B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874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18F6B0D4B41FA41BC01CD0D24188169" ma:contentTypeVersion="20" ma:contentTypeDescription="Opprett et nytt dokument." ma:contentTypeScope="" ma:versionID="b7a18621afdaa9d919b5d73324a8a37d">
  <xsd:schema xmlns:xsd="http://www.w3.org/2001/XMLSchema" xmlns:xs="http://www.w3.org/2001/XMLSchema" xmlns:p="http://schemas.microsoft.com/office/2006/metadata/properties" xmlns:ns2="e84ae1cb-83da-46e9-90cf-a6223a3d62b4" xmlns:ns3="330e2b19-d22b-458d-836c-196ed8ef0578" targetNamespace="http://schemas.microsoft.com/office/2006/metadata/properties" ma:root="true" ma:fieldsID="133c24ea7f3608032fcac58cce4224fb" ns2:_="" ns3:_="">
    <xsd:import namespace="e84ae1cb-83da-46e9-90cf-a6223a3d62b4"/>
    <xsd:import namespace="330e2b19-d22b-458d-836c-196ed8ef05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Bilde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ae1cb-83da-46e9-90cf-a6223a3d6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0df4930c-91c5-452e-b6ab-428d5d93c6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Bildet" ma:index="26" nillable="true" ma:displayName="Bildet" ma:format="Thumbnail" ma:internalName="Bildet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e2b19-d22b-458d-836c-196ed8ef057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7f28dd0-eee2-4647-a0d6-6ff9ffa79036}" ma:internalName="TaxCatchAll" ma:showField="CatchAllData" ma:web="330e2b19-d22b-458d-836c-196ed8ef05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0e2b19-d22b-458d-836c-196ed8ef0578" xsi:nil="true"/>
    <lcf76f155ced4ddcb4097134ff3c332f xmlns="e84ae1cb-83da-46e9-90cf-a6223a3d62b4">
      <Terms xmlns="http://schemas.microsoft.com/office/infopath/2007/PartnerControls"/>
    </lcf76f155ced4ddcb4097134ff3c332f>
    <Bildet xmlns="e84ae1cb-83da-46e9-90cf-a6223a3d62b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ED8213-7400-4310-B757-2462B42C6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ae1cb-83da-46e9-90cf-a6223a3d62b4"/>
    <ds:schemaRef ds:uri="330e2b19-d22b-458d-836c-196ed8ef05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e84ae1cb-83da-46e9-90cf-a6223a3d62b4"/>
    <ds:schemaRef ds:uri="http://schemas.microsoft.com/office/2006/documentManagement/types"/>
    <ds:schemaRef ds:uri="http://schemas.openxmlformats.org/package/2006/metadata/core-properties"/>
    <ds:schemaRef ds:uri="330e2b19-d22b-458d-836c-196ed8ef0578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19801</TotalTime>
  <Words>1244</Words>
  <Application>Microsoft Office PowerPoint</Application>
  <PresentationFormat>Skjermfremvisning (16:9)</PresentationFormat>
  <Paragraphs>161</Paragraphs>
  <Slides>13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7" baseType="lpstr">
      <vt:lpstr>Arial</vt:lpstr>
      <vt:lpstr>Calibri</vt:lpstr>
      <vt:lpstr>Source Sans Pro</vt:lpstr>
      <vt:lpstr>HIOF-template-7.13.Presentasjonsmal-NOR-v.0.0.3</vt:lpstr>
      <vt:lpstr>Bevegelsessensor og digitalRead()</vt:lpstr>
      <vt:lpstr>Infrarød (varme) stråling</vt:lpstr>
      <vt:lpstr>Fra infrarød stråling til bevegelsesdeteksjon</vt:lpstr>
      <vt:lpstr>Grunnleggende prinsipp – hva en PIR-sensor er</vt:lpstr>
      <vt:lpstr>Elektronisk grensesnitt mot Arduino</vt:lpstr>
      <vt:lpstr>Praktisk anvendelse og begrensninger</vt:lpstr>
      <vt:lpstr>Hva er digital input?</vt:lpstr>
      <vt:lpstr>Digital Input: digitalRead()</vt:lpstr>
      <vt:lpstr>Stabilt signal med pull-up motstand</vt:lpstr>
      <vt:lpstr>Funksjonen millis()</vt:lpstr>
      <vt:lpstr>Lagre tidspunktet for en hendelse</vt:lpstr>
      <vt:lpstr>Løs oppgaven som du ville gjort på eksamen</vt:lpstr>
      <vt:lpstr>Smart korridor med PIR, LDR og LED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71</cp:revision>
  <dcterms:created xsi:type="dcterms:W3CDTF">2015-06-11T22:12:29Z</dcterms:created>
  <dcterms:modified xsi:type="dcterms:W3CDTF">2025-10-13T10:17:32Z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0x010100718F6B0D4B41FA41BC01CD0D24188169</vt:lpwstr>
  </property>
  <property fmtid="{D5CDD505-2E9C-101B-9397-08002B2CF9AE}" pid="3" name="MediaServiceImageTags">
    <vt:lpwstr/>
  </property>
</Properties>
</file>
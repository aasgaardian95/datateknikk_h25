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4"/>
  </p:sldMasterIdLst>
  <p:notesMasterIdLst>
    <p:notesMasterId r:id="rId17"/>
  </p:notesMasterIdLst>
  <p:handoutMasterIdLst>
    <p:handoutMasterId r:id="rId18"/>
  </p:handoutMasterIdLst>
  <p:sldIdLst>
    <p:sldId id="258" r:id="rId5"/>
    <p:sldId id="270" r:id="rId6"/>
    <p:sldId id="260" r:id="rId7"/>
    <p:sldId id="259" r:id="rId8"/>
    <p:sldId id="264" r:id="rId9"/>
    <p:sldId id="263" r:id="rId10"/>
    <p:sldId id="269" r:id="rId11"/>
    <p:sldId id="267" r:id="rId12"/>
    <p:sldId id="268" r:id="rId13"/>
    <p:sldId id="262" r:id="rId14"/>
    <p:sldId id="265" r:id="rId15"/>
    <p:sldId id="266" r:id="rId16"/>
  </p:sldIdLst>
  <p:sldSz cx="9144000" cy="5143500" type="screen16x9"/>
  <p:notesSz cx="6858000" cy="9144000"/>
  <p:defaultTextStyle>
    <a:defPPr>
      <a:defRPr lang="nb-NO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F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504" autoAdjust="0"/>
  </p:normalViewPr>
  <p:slideViewPr>
    <p:cSldViewPr snapToGrid="0">
      <p:cViewPr varScale="1">
        <p:scale>
          <a:sx n="71" d="100"/>
          <a:sy n="71" d="100"/>
        </p:scale>
        <p:origin x="1164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F15ACB-6D39-BD4E-B219-F3F80F4D5658}" type="datetimeFigureOut">
              <a:rPr lang="nb-NO" smtClean="0"/>
              <a:t>16.10.2025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53D036-F3E9-EE46-9B35-EC7759C2F54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361545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44867-3A3C-8F4F-AA72-C1B9EB729F72}" type="datetimeFigureOut">
              <a:rPr lang="nb-NO" smtClean="0"/>
              <a:t>16.10.2025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C457E-F630-C147-B67D-734B6B1CD9D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30815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57E-F630-C147-B67D-734B6B1CD9DE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01860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7" name="Plassholder for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16.10.2025</a:t>
            </a:fld>
            <a:endParaRPr lang="nb-NO"/>
          </a:p>
        </p:txBody>
      </p:sp>
      <p:sp>
        <p:nvSpPr>
          <p:cNvPr id="8" name="Plassholder for bunn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9" name="Plassholder for lysbil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38523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 descr="HEX-pp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274053" y="1203159"/>
            <a:ext cx="8412748" cy="1784684"/>
          </a:xfrm>
        </p:spPr>
        <p:txBody>
          <a:bodyPr anchor="b"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Klikk for å redigere tittelstil</a:t>
            </a:r>
            <a:endParaRPr lang="nb-NO"/>
          </a:p>
        </p:txBody>
      </p:sp>
      <p:pic>
        <p:nvPicPr>
          <p:cNvPr id="9" name="Bild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pic>
        <p:nvPicPr>
          <p:cNvPr id="10" name="Bilde 9" descr="HEX-pp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Bild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44AB339-F0E1-A746-A0DD-B8B314440945}" type="datetime1">
              <a:rPr lang="nb-NO" smtClean="0"/>
              <a:t>16.10.2025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12" name="Plassholder for lysbildenumm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30912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 descr="HEX-pp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274053" y="1203159"/>
            <a:ext cx="8412748" cy="1784684"/>
          </a:xfrm>
        </p:spPr>
        <p:txBody>
          <a:bodyPr anchor="b"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Klikk for å redigere tittelstil</a:t>
            </a:r>
            <a:endParaRPr lang="nb-NO"/>
          </a:p>
        </p:txBody>
      </p:sp>
      <p:pic>
        <p:nvPicPr>
          <p:cNvPr id="9" name="Bild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pic>
        <p:nvPicPr>
          <p:cNvPr id="10" name="Bilde 9" descr="HEX-pp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Bild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590699-1352-D148-B251-D7C28FB0B6CC}" type="datetime1">
              <a:rPr lang="nb-NO" smtClean="0"/>
              <a:t>16.10.2025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12" name="Plassholder for lysbildenumm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34894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pittel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10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1999"/>
            <a:ext cx="6075947" cy="321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pic>
        <p:nvPicPr>
          <p:cNvPr id="7" name="Bild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1FF5EF9-C484-D748-964B-06FC147FE0F7}" type="datetime1">
              <a:rPr lang="nb-NO" smtClean="0"/>
              <a:t>16.10.2025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98194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pittel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10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1999"/>
            <a:ext cx="6075947" cy="321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pic>
        <p:nvPicPr>
          <p:cNvPr id="7" name="Bild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EE9DC53-2898-304E-8D88-1BB22CAC7760}" type="datetime1">
              <a:rPr lang="nb-NO" smtClean="0"/>
              <a:t>16.10.2025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3634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telside 1-Hexago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2000"/>
            <a:ext cx="6075947" cy="1998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/>
            </a:lvl1pPr>
          </a:lstStyle>
          <a:p>
            <a:r>
              <a:rPr lang="nb-NO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3439050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8" name="Plassholder for dato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46D0C-2F8A-B642-A138-BA59C775D20D}" type="datetime1">
              <a:rPr lang="nb-NO" smtClean="0"/>
              <a:t>16.10.2025</a:t>
            </a:fld>
            <a:endParaRPr lang="nb-NO"/>
          </a:p>
        </p:txBody>
      </p:sp>
      <p:sp>
        <p:nvSpPr>
          <p:cNvPr id="9" name="Plassholder for bunntekst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10" name="Plassholder for lysbildenumm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87898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675105"/>
            <a:ext cx="4040188" cy="95605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4645026" y="675105"/>
            <a:ext cx="4041775" cy="95605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</a:p>
        </p:txBody>
      </p:sp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A204A-9A75-3C4C-BAD0-3FE6FE661701}" type="datetime1">
              <a:rPr lang="nb-NO" smtClean="0"/>
              <a:t>16.10.2025</a:t>
            </a:fld>
            <a:endParaRPr lang="nb-NO"/>
          </a:p>
        </p:txBody>
      </p:sp>
      <p:sp>
        <p:nvSpPr>
          <p:cNvPr id="10" name="Plassholder for bunn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11" name="Plassholder for lysbilde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24599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6" name="Plassholder for dato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2955-BE7A-5C4C-84B8-41580681C190}" type="datetime1">
              <a:rPr lang="nb-NO" smtClean="0"/>
              <a:t>16.10.2025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354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A57B6-EDFB-B447-8B14-79CCE6E543ED}" type="datetime1">
              <a:rPr lang="nb-NO" smtClean="0"/>
              <a:t>16.10.2025</a:t>
            </a:fld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20449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ilde 2"/>
          <p:cNvSpPr>
            <a:spLocks noGrp="1"/>
          </p:cNvSpPr>
          <p:nvPr>
            <p:ph type="pic" idx="1" hasCustomPrompt="1"/>
          </p:nvPr>
        </p:nvSpPr>
        <p:spPr>
          <a:xfrm>
            <a:off x="0" y="100262"/>
            <a:ext cx="9144000" cy="4485105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/>
              <a:t>Klikk her for å sette inn bilde</a:t>
            </a:r>
          </a:p>
        </p:txBody>
      </p:sp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2B3D7-CAAD-CD4A-9ADE-B7023038E292}" type="datetime1">
              <a:rPr lang="nb-NO" smtClean="0"/>
              <a:t>16.10.2025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57453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le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 descr="HEX-hvit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e 6" descr="logo-0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  <p:pic>
        <p:nvPicPr>
          <p:cNvPr id="4" name="Bilde 3" descr="HEX-hvit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Bilde 4" descr="logo-01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71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le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 descr="HEX-hvit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e 6" descr="logo-0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  <p:pic>
        <p:nvPicPr>
          <p:cNvPr id="4" name="Bilde 3" descr="HEX-hvit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Bilde 4" descr="logo-01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67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6697576" y="4768684"/>
            <a:ext cx="168442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Source Sans Pro"/>
              </a:defRPr>
            </a:lvl1pPr>
          </a:lstStyle>
          <a:p>
            <a:fld id="{301028B7-40B6-B141-A86D-F90DE572F70B}" type="datetime1">
              <a:rPr lang="nb-NO" smtClean="0"/>
              <a:t>16.10.2025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316835" y="4767263"/>
            <a:ext cx="592622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101820"/>
                </a:solidFill>
                <a:latin typeface="Source Sans Pro"/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8381996" y="4767263"/>
            <a:ext cx="41174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01820"/>
                </a:solidFill>
                <a:latin typeface="Source Sans Pro"/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7" name="Bilde 6" descr="logo-nor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309" y="33420"/>
            <a:ext cx="2648691" cy="732370"/>
          </a:xfrm>
          <a:prstGeom prst="rect">
            <a:avLst/>
          </a:prstGeom>
        </p:spPr>
      </p:pic>
      <p:pic>
        <p:nvPicPr>
          <p:cNvPr id="8" name="Bilde 7" descr="logo-nor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309" y="33420"/>
            <a:ext cx="2648691" cy="73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29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kern="1200" baseline="0">
          <a:solidFill>
            <a:schemeClr val="tx1"/>
          </a:solidFill>
          <a:latin typeface="Source Sans Pro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2400" kern="1200">
          <a:solidFill>
            <a:schemeClr val="tx1"/>
          </a:solidFill>
          <a:latin typeface="Source Sans Pro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2000" kern="1200">
          <a:solidFill>
            <a:schemeClr val="tx1"/>
          </a:solidFill>
          <a:latin typeface="Source Sans Pro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800" kern="1200">
          <a:solidFill>
            <a:schemeClr val="tx1"/>
          </a:solidFill>
          <a:latin typeface="Source Sans Pro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600" kern="1200">
          <a:solidFill>
            <a:schemeClr val="tx1"/>
          </a:solidFill>
          <a:latin typeface="Source Sans Pro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400" kern="1200">
          <a:solidFill>
            <a:schemeClr val="tx1"/>
          </a:solidFill>
          <a:latin typeface="Source Sans Pro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dafruit/Adafruit_SSD1306" TargetMode="External"/><Relationship Id="rId2" Type="http://schemas.openxmlformats.org/officeDocument/2006/relationships/hyperlink" Target="https://github.com/adafruit/Adafruit-GFX-Library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adafruit/Adafruit_BME280_Library" TargetMode="External"/><Relationship Id="rId4" Type="http://schemas.openxmlformats.org/officeDocument/2006/relationships/hyperlink" Target="https://github.com/adafruit/Adafruit_Sensor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b-NO" dirty="0"/>
              <a:t>Multisensor for luftfuktighet og temperatur og bruk av skjerm</a:t>
            </a:r>
            <a:endParaRPr lang="nb-NO" sz="2400" dirty="0"/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/>
          <a:lstStyle/>
          <a:p>
            <a:fld id="{CEBE5A08-4597-EE48-8595-2652A3602EC3}" type="datetime1">
              <a:rPr lang="nb-NO" smtClean="0"/>
              <a:t>16.10.2025</a:t>
            </a:fld>
            <a:endParaRPr lang="nb-NO" dirty="0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/>
          <a:lstStyle/>
          <a:p>
            <a:fld id="{28ECCE09-4EB9-D24E-99A2-F5BDA1BD657E}" type="slidenum">
              <a:rPr lang="nb-NO" smtClean="0"/>
              <a:pPr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09090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B093A87-81B2-B32A-6107-278724196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Noen beskjeder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A0C3361-FEED-7D3E-B449-E72379DA7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Ingen har gjort kodeeksempeloppgavene til Erik</a:t>
            </a:r>
          </a:p>
          <a:p>
            <a:pPr lvl="1"/>
            <a:r>
              <a:rPr lang="nb-NO" dirty="0"/>
              <a:t>Dette er god øvelse til eksamen</a:t>
            </a:r>
          </a:p>
          <a:p>
            <a:pPr lvl="1"/>
            <a:r>
              <a:rPr lang="nb-NO" dirty="0"/>
              <a:t>Det er forventet at man skal se videoene og kunne gjøre oppgavene</a:t>
            </a:r>
          </a:p>
          <a:p>
            <a:r>
              <a:rPr lang="nb-NO" dirty="0"/>
              <a:t>Nesten ingen hadde gjort del 1 av lab 4</a:t>
            </a:r>
          </a:p>
          <a:p>
            <a:r>
              <a:rPr lang="nb-NO" dirty="0"/>
              <a:t>Gjør del 1 før lab 5 -&gt; laben går mye raskere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416979A-6251-AC3E-E3E4-8EBA472F1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16.10.2025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23F6075-BBA7-4F38-529D-425B27ED6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1FEB34A-84EC-9710-65F0-7297B3C2F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90587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68FD416-5400-C32F-0D85-14885AFFF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 dirty="0"/>
              <a:t>I2C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5A528CF-F167-D5E1-10AF-D4B280A6E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r>
              <a:rPr lang="nb-NO" dirty="0"/>
              <a:t>Inter-Integrated Circuit</a:t>
            </a:r>
          </a:p>
          <a:p>
            <a:r>
              <a:rPr lang="nb-NO" dirty="0"/>
              <a:t>Protokoll for kommunikasjon</a:t>
            </a:r>
          </a:p>
          <a:p>
            <a:r>
              <a:rPr lang="nb-NO" dirty="0"/>
              <a:t>Enheter har ulike adresser</a:t>
            </a:r>
          </a:p>
          <a:p>
            <a:r>
              <a:rPr lang="nb-NO" dirty="0"/>
              <a:t>To ledninger for kommunikasjon</a:t>
            </a:r>
          </a:p>
          <a:p>
            <a:pPr lvl="1"/>
            <a:r>
              <a:rPr lang="nb-NO" dirty="0"/>
              <a:t>SDA</a:t>
            </a:r>
          </a:p>
          <a:p>
            <a:pPr lvl="1"/>
            <a:r>
              <a:rPr lang="nb-NO" dirty="0"/>
              <a:t>SCL</a:t>
            </a:r>
          </a:p>
          <a:p>
            <a:r>
              <a:rPr lang="nb-NO" dirty="0"/>
              <a:t>Startes med </a:t>
            </a:r>
            <a:r>
              <a:rPr lang="nb-NO" dirty="0" err="1"/>
              <a:t>Wire.begin</a:t>
            </a:r>
            <a:r>
              <a:rPr lang="nb-NO" dirty="0"/>
              <a:t>()</a:t>
            </a:r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E1C514EF-8565-D6A1-728A-C49D1FC17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817061"/>
            <a:ext cx="4038600" cy="2160651"/>
          </a:xfrm>
          <a:prstGeom prst="rect">
            <a:avLst/>
          </a:prstGeom>
          <a:noFill/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900EB7C-BC9E-1B76-BCD8-CDBCD66D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16.10.2025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23B6B34-916F-FF2E-193A-D8A30A0A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DD70DC39-9AFC-1CB7-2838-E64081119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00353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B8ED4EA-F2B3-A5FA-DFFF-451AC96EF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 dirty="0"/>
              <a:t>Fukt og temperatursensoren </a:t>
            </a:r>
            <a:r>
              <a:rPr lang="nb-NO" sz="2600" dirty="0" err="1"/>
              <a:t>Sparkfun</a:t>
            </a:r>
            <a:r>
              <a:rPr lang="nb-NO" sz="2600" dirty="0"/>
              <a:t> BME280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A234103-6150-F985-466B-7E71E4E041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r>
              <a:rPr lang="nb-NO" dirty="0"/>
              <a:t>NB! 3,3 volt</a:t>
            </a:r>
          </a:p>
          <a:p>
            <a:r>
              <a:rPr lang="nb-NO" dirty="0"/>
              <a:t>Kobling</a:t>
            </a:r>
          </a:p>
          <a:p>
            <a:pPr lvl="1"/>
            <a:r>
              <a:rPr lang="nb-NO" sz="2000" dirty="0"/>
              <a:t>VCC → 3.3V</a:t>
            </a:r>
          </a:p>
          <a:p>
            <a:pPr lvl="1"/>
            <a:r>
              <a:rPr lang="nb-NO" sz="2000" dirty="0"/>
              <a:t>GND → GND</a:t>
            </a:r>
          </a:p>
          <a:p>
            <a:pPr lvl="1"/>
            <a:r>
              <a:rPr lang="nb-NO" sz="2000" dirty="0"/>
              <a:t>SDA → SDA</a:t>
            </a:r>
          </a:p>
          <a:p>
            <a:pPr lvl="1"/>
            <a:r>
              <a:rPr lang="nb-NO" sz="2000" dirty="0"/>
              <a:t>SCL → SCL</a:t>
            </a:r>
          </a:p>
        </p:txBody>
      </p:sp>
      <p:pic>
        <p:nvPicPr>
          <p:cNvPr id="8" name="Bilde 7" descr="Et bilde som inneholder tekst, kretskomponent, Elektronisk komponent, Passiv kretskomponent&#10;&#10;KI-generert innhold kan være feil.">
            <a:extLst>
              <a:ext uri="{FF2B5EF4-FFF2-40B4-BE49-F238E27FC236}">
                <a16:creationId xmlns:a16="http://schemas.microsoft.com/office/drawing/2014/main" id="{F8E3F4D4-7E88-F2C1-05AB-D54791091C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046" r="5" b="15953"/>
          <a:stretch>
            <a:fillRect/>
          </a:stretch>
        </p:blipFill>
        <p:spPr>
          <a:xfrm>
            <a:off x="2780107" y="1398907"/>
            <a:ext cx="4038600" cy="2544442"/>
          </a:xfrm>
          <a:prstGeom prst="rect">
            <a:avLst/>
          </a:prstGeom>
          <a:noFill/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3654E671-6536-B037-76E5-69C5A320C9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16.10.2025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4293FFE6-B7D9-144B-831C-C662650FC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BE72009-34E9-BB29-7496-66E89E255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nb-NO"/>
          </a:p>
        </p:txBody>
      </p:sp>
      <p:pic>
        <p:nvPicPr>
          <p:cNvPr id="11" name="Bilde 10">
            <a:extLst>
              <a:ext uri="{FF2B5EF4-FFF2-40B4-BE49-F238E27FC236}">
                <a16:creationId xmlns:a16="http://schemas.microsoft.com/office/drawing/2014/main" id="{6762D5B6-FDF5-2D4F-16F6-BC0F072AF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731" y="1874895"/>
            <a:ext cx="2934109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441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9EB539A-6C02-9C7B-2A07-0DC4256E9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OLED-skjermen BME12864-11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D213127-88FC-08CC-9144-26EAAF955C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r>
              <a:rPr lang="nb-NO" dirty="0"/>
              <a:t>128x64 </a:t>
            </a:r>
            <a:r>
              <a:rPr lang="nb-NO" dirty="0" err="1"/>
              <a:t>px</a:t>
            </a:r>
            <a:endParaRPr lang="nb-NO" dirty="0"/>
          </a:p>
          <a:p>
            <a:r>
              <a:rPr lang="nb-NO" dirty="0"/>
              <a:t>Brukes via I2C</a:t>
            </a:r>
          </a:p>
          <a:p>
            <a:r>
              <a:rPr lang="nb-NO" dirty="0"/>
              <a:t>3,3 - 5 volt</a:t>
            </a:r>
          </a:p>
          <a:p>
            <a:r>
              <a:rPr lang="nb-NO" dirty="0"/>
              <a:t>Bygget rundt SSD1306</a:t>
            </a:r>
          </a:p>
        </p:txBody>
      </p:sp>
      <p:pic>
        <p:nvPicPr>
          <p:cNvPr id="8" name="Bilde 7" descr="Et bilde som inneholder tekst, elektronikk, skjermbilde, Elektronteknikk&#10;&#10;KI-generert innhold kan være feil.">
            <a:extLst>
              <a:ext uri="{FF2B5EF4-FFF2-40B4-BE49-F238E27FC236}">
                <a16:creationId xmlns:a16="http://schemas.microsoft.com/office/drawing/2014/main" id="{D1594335-E323-401A-EB08-F8B3C120C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408" y="1200151"/>
            <a:ext cx="3640184" cy="3394472"/>
          </a:xfrm>
          <a:prstGeom prst="rect">
            <a:avLst/>
          </a:prstGeom>
          <a:noFill/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FA930B74-64AB-6A1B-0AE5-A34A68657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16.10.2025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FAC4FAD-7848-9F35-B111-133B3D70B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03F248F-9B82-B917-60E5-A8C45B779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09703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D8BC348-CC96-7FD9-7CF4-240C06182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Biblioteker vi trenger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0DC70AF-2649-349A-AE03-7AEAA4AF3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err="1"/>
              <a:t>Wire.h</a:t>
            </a:r>
            <a:r>
              <a:rPr lang="nb-NO" dirty="0"/>
              <a:t> (</a:t>
            </a:r>
            <a:r>
              <a:rPr lang="nb-NO" dirty="0" err="1"/>
              <a:t>allerde</a:t>
            </a:r>
            <a:r>
              <a:rPr lang="nb-NO" dirty="0"/>
              <a:t> installert)</a:t>
            </a:r>
          </a:p>
          <a:p>
            <a:r>
              <a:rPr lang="nb-NO" dirty="0"/>
              <a:t>Adafruit </a:t>
            </a:r>
            <a:r>
              <a:rPr lang="nb-NO" dirty="0" err="1"/>
              <a:t>BusIO</a:t>
            </a:r>
            <a:r>
              <a:rPr lang="nb-NO" dirty="0"/>
              <a:t> (via </a:t>
            </a:r>
            <a:r>
              <a:rPr lang="nb-NO" dirty="0" err="1"/>
              <a:t>manage</a:t>
            </a:r>
            <a:r>
              <a:rPr lang="nb-NO" dirty="0"/>
              <a:t> </a:t>
            </a:r>
            <a:r>
              <a:rPr lang="nb-NO" dirty="0" err="1"/>
              <a:t>libaries</a:t>
            </a:r>
            <a:r>
              <a:rPr lang="nb-NO" dirty="0"/>
              <a:t>)</a:t>
            </a:r>
          </a:p>
          <a:p>
            <a:r>
              <a:rPr lang="nb-NO" dirty="0">
                <a:hlinkClick r:id="rId2"/>
              </a:rPr>
              <a:t>Adafruit-GFX-Library (</a:t>
            </a:r>
            <a:r>
              <a:rPr lang="nb-NO" dirty="0" err="1">
                <a:hlinkClick r:id="rId2"/>
              </a:rPr>
              <a:t>Github</a:t>
            </a:r>
            <a:r>
              <a:rPr lang="nb-NO" dirty="0">
                <a:hlinkClick r:id="rId2"/>
              </a:rPr>
              <a:t>)</a:t>
            </a:r>
            <a:endParaRPr lang="nb-NO" dirty="0"/>
          </a:p>
          <a:p>
            <a:r>
              <a:rPr lang="nb-NO" dirty="0">
                <a:hlinkClick r:id="rId3"/>
              </a:rPr>
              <a:t>Adafruit_SSD1306 (</a:t>
            </a:r>
            <a:r>
              <a:rPr lang="nb-NO" dirty="0" err="1">
                <a:hlinkClick r:id="rId3"/>
              </a:rPr>
              <a:t>Github</a:t>
            </a:r>
            <a:r>
              <a:rPr lang="nb-NO" dirty="0">
                <a:hlinkClick r:id="rId3"/>
              </a:rPr>
              <a:t>)</a:t>
            </a:r>
            <a:endParaRPr lang="nb-NO" dirty="0"/>
          </a:p>
          <a:p>
            <a:r>
              <a:rPr lang="nb-NO" dirty="0" err="1">
                <a:hlinkClick r:id="rId4"/>
              </a:rPr>
              <a:t>Adafruit_Sensor.h</a:t>
            </a:r>
            <a:r>
              <a:rPr lang="nb-NO" dirty="0">
                <a:hlinkClick r:id="rId4"/>
              </a:rPr>
              <a:t> (</a:t>
            </a:r>
            <a:r>
              <a:rPr lang="nb-NO" dirty="0" err="1">
                <a:hlinkClick r:id="rId4"/>
              </a:rPr>
              <a:t>Github</a:t>
            </a:r>
            <a:r>
              <a:rPr lang="nb-NO" dirty="0">
                <a:hlinkClick r:id="rId4"/>
              </a:rPr>
              <a:t>)</a:t>
            </a:r>
            <a:endParaRPr lang="nb-NO" dirty="0"/>
          </a:p>
          <a:p>
            <a:r>
              <a:rPr lang="nb-NO" dirty="0">
                <a:hlinkClick r:id="rId5"/>
              </a:rPr>
              <a:t>Adafruit_BME280.h (</a:t>
            </a:r>
            <a:r>
              <a:rPr lang="nb-NO" dirty="0" err="1">
                <a:hlinkClick r:id="rId5"/>
              </a:rPr>
              <a:t>Github</a:t>
            </a:r>
            <a:r>
              <a:rPr lang="nb-NO" dirty="0">
                <a:hlinkClick r:id="rId5"/>
              </a:rPr>
              <a:t>)</a:t>
            </a:r>
            <a:endParaRPr lang="nb-NO" dirty="0"/>
          </a:p>
          <a:p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380F56F9-9E0D-4DA7-14E6-E82702BAF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16.10.2025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0869A4A-C448-C0F1-DCAB-747F2CE26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9CBF5A7F-2314-2FF2-AC38-1ACD3609B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52202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EB830C2-1DBE-86A8-8A59-7316F5C11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 dirty="0"/>
              <a:t>Installere bibliotek via </a:t>
            </a:r>
            <a:r>
              <a:rPr lang="nb-NO" sz="2600" dirty="0" err="1"/>
              <a:t>Manage</a:t>
            </a:r>
            <a:r>
              <a:rPr lang="nb-NO" sz="2600" dirty="0"/>
              <a:t> </a:t>
            </a:r>
            <a:r>
              <a:rPr lang="nb-NO" sz="2600" dirty="0" err="1"/>
              <a:t>Libaries</a:t>
            </a:r>
            <a:endParaRPr lang="nb-NO" sz="2600" dirty="0"/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5BF5CCC2-476B-1C70-79C1-F503AC1ED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085" y="1200151"/>
            <a:ext cx="6527829" cy="3394472"/>
          </a:xfrm>
          <a:prstGeom prst="rect">
            <a:avLst/>
          </a:prstGeom>
          <a:noFill/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C3989F5-DB14-4338-4917-909EEF87B4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16.10.2025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C93A92B-99E8-9975-E22A-23FFA5E03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nb-NO"/>
              <a:t>Fornavn Etternavn | Avdelingsnavn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77A85A9-7D02-AB63-53C7-16D84D5DB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72842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AAC6FDF-A717-5DAA-9731-96274B168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Installere bibliotek fra </a:t>
            </a:r>
            <a:r>
              <a:rPr lang="nb-NO" dirty="0" err="1"/>
              <a:t>Github</a:t>
            </a:r>
            <a:r>
              <a:rPr lang="nb-NO" dirty="0"/>
              <a:t>: Steg 1</a:t>
            </a:r>
          </a:p>
        </p:txBody>
      </p:sp>
      <p:pic>
        <p:nvPicPr>
          <p:cNvPr id="8" name="Plassholder for innhold 7">
            <a:extLst>
              <a:ext uri="{FF2B5EF4-FFF2-40B4-BE49-F238E27FC236}">
                <a16:creationId xmlns:a16="http://schemas.microsoft.com/office/drawing/2014/main" id="{412DB630-6590-AFC3-A21B-FF84C0C125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350" y="1200150"/>
            <a:ext cx="7469300" cy="3394075"/>
          </a:xfrm>
          <a:prstGeom prst="rect">
            <a:avLst/>
          </a:prstGeom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FEBD1D5-A9AD-C7D0-4A89-CAA1040CF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16.10.2025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05B14E5-88AD-48F0-2A2B-62D2EAE91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85AF644-7E64-63B2-1242-AD6ACF14D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70844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48F6F-7860-F7E2-4F9D-253FAC934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6B98019-3B0C-D955-1D6B-D63664555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Installere bibliotek fra </a:t>
            </a:r>
            <a:r>
              <a:rPr lang="nb-NO" sz="2600" err="1"/>
              <a:t>Github</a:t>
            </a:r>
            <a:r>
              <a:rPr lang="nb-NO" sz="2600"/>
              <a:t>: Steg 2</a:t>
            </a:r>
          </a:p>
        </p:txBody>
      </p:sp>
      <p:pic>
        <p:nvPicPr>
          <p:cNvPr id="10" name="Bilde 9">
            <a:extLst>
              <a:ext uri="{FF2B5EF4-FFF2-40B4-BE49-F238E27FC236}">
                <a16:creationId xmlns:a16="http://schemas.microsoft.com/office/drawing/2014/main" id="{64151515-793C-F795-EA34-855BA935E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701" y="1200151"/>
            <a:ext cx="6496597" cy="3394472"/>
          </a:xfrm>
          <a:prstGeom prst="rect">
            <a:avLst/>
          </a:prstGeom>
          <a:noFill/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F546633-8F79-2628-A63E-09BCD6C615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16.10.2025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A1BD729-B00F-2D67-00B9-A60628F49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BF4F5D25-5D12-CD10-F51D-4B12F1BED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3360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271D6EE-2244-7780-8F99-8FD929C3E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 dirty="0"/>
              <a:t>Konfigurasjon for bruk av OLED </a:t>
            </a:r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FA00FB1C-C647-E123-6142-D8A93ED0C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18929"/>
            <a:ext cx="8229600" cy="2756915"/>
          </a:xfrm>
          <a:prstGeom prst="rect">
            <a:avLst/>
          </a:prstGeom>
          <a:noFill/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9920891-4032-B5C5-D126-93514657F8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16.10.2025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13ED5BF-4B61-7D09-C186-062E8E204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0266338-4C6B-DF92-61A0-7C21A4E77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39633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36E911F-D1D6-C8A0-86CB-8161020BB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Skrive tekst på skjermen</a:t>
            </a:r>
          </a:p>
        </p:txBody>
      </p:sp>
      <p:pic>
        <p:nvPicPr>
          <p:cNvPr id="8" name="Plassholder for innhold 7">
            <a:extLst>
              <a:ext uri="{FF2B5EF4-FFF2-40B4-BE49-F238E27FC236}">
                <a16:creationId xmlns:a16="http://schemas.microsoft.com/office/drawing/2014/main" id="{7CD16FED-D6CE-AF46-64CF-E89F57220B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7529" y="1200151"/>
            <a:ext cx="6788942" cy="3394472"/>
          </a:xfrm>
          <a:prstGeom prst="rect">
            <a:avLst/>
          </a:prstGeom>
          <a:noFill/>
        </p:spPr>
      </p:pic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8E1A988-BE35-4B58-C180-B6075B62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16.10.2025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6EBEFC9-156E-76AE-7D70-58682CC1B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4ED2816-FD22-99CE-CDCA-A40713A64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09081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54BDB45-EF99-4B10-544F-252E9ED42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Oppgave: Lag en temperatur og fuktmåler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FA95F82-2247-D335-298E-37CFF3487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dirty="0"/>
              <a:t>Du jobber som tekniker ved et veksthus som dyrker urter og grønnsaker. For at plantene skal trives, må temperaturen og luftfuktigheten overvåkes kontinuerlig.</a:t>
            </a:r>
          </a:p>
          <a:p>
            <a:r>
              <a:rPr lang="nb-NO" dirty="0"/>
              <a:t>Du skal lage en temperatur- og fuktmåler med </a:t>
            </a:r>
            <a:r>
              <a:rPr lang="nb-NO" dirty="0" err="1"/>
              <a:t>Arduino</a:t>
            </a:r>
            <a:r>
              <a:rPr lang="nb-NO" dirty="0"/>
              <a:t> som:</a:t>
            </a:r>
          </a:p>
          <a:p>
            <a:pPr lvl="1"/>
            <a:r>
              <a:rPr lang="nb-NO" dirty="0"/>
              <a:t>Leser av temperatur og luftfuktighet fra en sensor.</a:t>
            </a:r>
          </a:p>
          <a:p>
            <a:pPr lvl="1"/>
            <a:r>
              <a:rPr lang="nb-NO" dirty="0"/>
              <a:t>Viser målingene på en OLED-skjerm.</a:t>
            </a:r>
          </a:p>
          <a:p>
            <a:pPr lvl="1"/>
            <a:r>
              <a:rPr lang="nb-NO" dirty="0"/>
              <a:t>Oppdaterer verdiene fortløpende (f.eks. hvert sekund).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04FE4AA-87F5-1936-B54B-DA309B0D4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16.10.2025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157405B-D3A7-89D8-0F5D-B18550B71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9FF603FA-729B-C767-E359-7073E36F9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27911565"/>
      </p:ext>
    </p:extLst>
  </p:cSld>
  <p:clrMapOvr>
    <a:masterClrMapping/>
  </p:clrMapOvr>
</p:sld>
</file>

<file path=ppt/theme/theme1.xml><?xml version="1.0" encoding="utf-8"?>
<a:theme xmlns:a="http://schemas.openxmlformats.org/drawingml/2006/main" name="HIOF-template-7.13.Presentasjonsmal-NOR-v.0.0.3">
  <a:themeElements>
    <a:clrScheme name="HIOF-palett">
      <a:dk1>
        <a:srgbClr val="101820"/>
      </a:dk1>
      <a:lt1>
        <a:srgbClr val="101820"/>
      </a:lt1>
      <a:dk2>
        <a:srgbClr val="EDEBE9"/>
      </a:dk2>
      <a:lt2>
        <a:srgbClr val="FFFFFF"/>
      </a:lt2>
      <a:accent1>
        <a:srgbClr val="3CBFAE"/>
      </a:accent1>
      <a:accent2>
        <a:srgbClr val="C76D62"/>
      </a:accent2>
      <a:accent3>
        <a:srgbClr val="457A7C"/>
      </a:accent3>
      <a:accent4>
        <a:srgbClr val="D7D2CB"/>
      </a:accent4>
      <a:accent5>
        <a:srgbClr val="978794"/>
      </a:accent5>
      <a:accent6>
        <a:srgbClr val="C0B8B0"/>
      </a:accent6>
      <a:hlink>
        <a:srgbClr val="457A7C"/>
      </a:hlink>
      <a:folHlink>
        <a:srgbClr val="3CBFAE"/>
      </a:folHlink>
    </a:clrScheme>
    <a:fontScheme name="Office klassisk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18F6B0D4B41FA41BC01CD0D24188169" ma:contentTypeVersion="20" ma:contentTypeDescription="Opprett et nytt dokument." ma:contentTypeScope="" ma:versionID="b7a18621afdaa9d919b5d73324a8a37d">
  <xsd:schema xmlns:xsd="http://www.w3.org/2001/XMLSchema" xmlns:xs="http://www.w3.org/2001/XMLSchema" xmlns:p="http://schemas.microsoft.com/office/2006/metadata/properties" xmlns:ns2="e84ae1cb-83da-46e9-90cf-a6223a3d62b4" xmlns:ns3="330e2b19-d22b-458d-836c-196ed8ef0578" targetNamespace="http://schemas.microsoft.com/office/2006/metadata/properties" ma:root="true" ma:fieldsID="133c24ea7f3608032fcac58cce4224fb" ns2:_="" ns3:_="">
    <xsd:import namespace="e84ae1cb-83da-46e9-90cf-a6223a3d62b4"/>
    <xsd:import namespace="330e2b19-d22b-458d-836c-196ed8ef05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Bildet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4ae1cb-83da-46e9-90cf-a6223a3d62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emerkelapper" ma:readOnly="false" ma:fieldId="{5cf76f15-5ced-4ddc-b409-7134ff3c332f}" ma:taxonomyMulti="true" ma:sspId="0df4930c-91c5-452e-b6ab-428d5d93c6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Bildet" ma:index="26" nillable="true" ma:displayName="Bildet" ma:format="Thumbnail" ma:internalName="Bildet">
      <xsd:simpleType>
        <xsd:restriction base="dms:Unknown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0e2b19-d22b-458d-836c-196ed8ef0578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7f28dd0-eee2-4647-a0d6-6ff9ffa79036}" ma:internalName="TaxCatchAll" ma:showField="CatchAllData" ma:web="330e2b19-d22b-458d-836c-196ed8ef05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0e2b19-d22b-458d-836c-196ed8ef0578" xsi:nil="true"/>
    <lcf76f155ced4ddcb4097134ff3c332f xmlns="e84ae1cb-83da-46e9-90cf-a6223a3d62b4">
      <Terms xmlns="http://schemas.microsoft.com/office/infopath/2007/PartnerControls"/>
    </lcf76f155ced4ddcb4097134ff3c332f>
    <Bildet xmlns="e84ae1cb-83da-46e9-90cf-a6223a3d62b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4ED8213-7400-4310-B757-2462B42C6B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4ae1cb-83da-46e9-90cf-a6223a3d62b4"/>
    <ds:schemaRef ds:uri="330e2b19-d22b-458d-836c-196ed8ef05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0A1235-4F99-4957-98A9-279FBCDCAF1B}">
  <ds:schemaRefs>
    <ds:schemaRef ds:uri="http://schemas.microsoft.com/office/2006/metadata/properties"/>
    <ds:schemaRef ds:uri="http://www.w3.org/XML/1998/namespace"/>
    <ds:schemaRef ds:uri="http://purl.org/dc/dcmitype/"/>
    <ds:schemaRef ds:uri="http://schemas.microsoft.com/office/infopath/2007/PartnerControls"/>
    <ds:schemaRef ds:uri="e84ae1cb-83da-46e9-90cf-a6223a3d62b4"/>
    <ds:schemaRef ds:uri="http://schemas.microsoft.com/office/2006/documentManagement/types"/>
    <ds:schemaRef ds:uri="http://schemas.openxmlformats.org/package/2006/metadata/core-properties"/>
    <ds:schemaRef ds:uri="330e2b19-d22b-458d-836c-196ed8ef0578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9D0EBD75-8E1C-48FC-9758-5998BD7A9BD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3221735-26b9-4eac-ad0f-4721757a50f8}" enabled="0" method="" siteId="{e3221735-26b9-4eac-ad0f-4721757a50f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HIOF-template-7.13.Presentasjonsmal-NOR-v.0.0.3.potx</Template>
  <TotalTime>21125</TotalTime>
  <Words>397</Words>
  <Application>Microsoft Office PowerPoint</Application>
  <PresentationFormat>Skjermfremvisning (16:9)</PresentationFormat>
  <Paragraphs>82</Paragraphs>
  <Slides>12</Slides>
  <Notes>1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12</vt:i4>
      </vt:variant>
    </vt:vector>
  </HeadingPairs>
  <TitlesOfParts>
    <vt:vector size="16" baseType="lpstr">
      <vt:lpstr>Arial</vt:lpstr>
      <vt:lpstr>Calibri</vt:lpstr>
      <vt:lpstr>Source Sans Pro</vt:lpstr>
      <vt:lpstr>HIOF-template-7.13.Presentasjonsmal-NOR-v.0.0.3</vt:lpstr>
      <vt:lpstr>Multisensor for luftfuktighet og temperatur og bruk av skjerm</vt:lpstr>
      <vt:lpstr>Noen beskjeder</vt:lpstr>
      <vt:lpstr>I2C</vt:lpstr>
      <vt:lpstr>Fukt og temperatursensoren Sparkfun BME280</vt:lpstr>
      <vt:lpstr>OLED-skjermen BME12864-11</vt:lpstr>
      <vt:lpstr>Biblioteker vi trenger</vt:lpstr>
      <vt:lpstr>Installere bibliotek via Manage Libaries</vt:lpstr>
      <vt:lpstr>Installere bibliotek fra Github: Steg 1</vt:lpstr>
      <vt:lpstr>Installere bibliotek fra Github: Steg 2</vt:lpstr>
      <vt:lpstr>Konfigurasjon for bruk av OLED </vt:lpstr>
      <vt:lpstr>Skrive tekst på skjermen</vt:lpstr>
      <vt:lpstr>Oppgave: Lag en temperatur og fuktmåler</vt:lpstr>
    </vt:vector>
  </TitlesOfParts>
  <Manager/>
  <Company>The Pitch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HIOF-template-7.13.Presentasjonsmal</dc:title>
  <dc:subject/>
  <dc:creator>Karine Strand Andresen</dc:creator>
  <cp:keywords/>
  <dc:description/>
  <cp:lastModifiedBy>Martin Arthur Andersen</cp:lastModifiedBy>
  <cp:revision>72</cp:revision>
  <dcterms:created xsi:type="dcterms:W3CDTF">2015-06-11T22:12:29Z</dcterms:created>
  <dcterms:modified xsi:type="dcterms:W3CDTF">2025-10-16T07:55:00Z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0x010100718F6B0D4B41FA41BC01CD0D24188169</vt:lpwstr>
  </property>
  <property fmtid="{D5CDD505-2E9C-101B-9397-08002B2CF9AE}" pid="3" name="MediaServiceImageTags">
    <vt:lpwstr/>
  </property>
</Properties>
</file>
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2" r:id="rId4"/>
  </p:sldMasterIdLst>
  <p:notesMasterIdLst>
    <p:notesMasterId r:id="rId22"/>
  </p:notesMasterIdLst>
  <p:handoutMasterIdLst>
    <p:handoutMasterId r:id="rId23"/>
  </p:handoutMasterIdLst>
  <p:sldIdLst>
    <p:sldId id="258" r:id="rId5"/>
    <p:sldId id="260" r:id="rId6"/>
    <p:sldId id="261" r:id="rId7"/>
    <p:sldId id="266" r:id="rId8"/>
    <p:sldId id="262" r:id="rId9"/>
    <p:sldId id="274" r:id="rId10"/>
    <p:sldId id="273" r:id="rId11"/>
    <p:sldId id="264" r:id="rId12"/>
    <p:sldId id="265" r:id="rId13"/>
    <p:sldId id="267" r:id="rId14"/>
    <p:sldId id="268" r:id="rId15"/>
    <p:sldId id="269" r:id="rId16"/>
    <p:sldId id="270" r:id="rId17"/>
    <p:sldId id="271" r:id="rId18"/>
    <p:sldId id="275" r:id="rId19"/>
    <p:sldId id="272" r:id="rId20"/>
    <p:sldId id="276" r:id="rId21"/>
  </p:sldIdLst>
  <p:sldSz cx="9144000" cy="5143500" type="screen16x9"/>
  <p:notesSz cx="6858000" cy="9144000"/>
  <p:defaultTextStyle>
    <a:defPPr>
      <a:defRPr lang="nb-NO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F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B79A1B-D422-4BB3-849F-97AF318B1098}" v="2" dt="2025-10-20T09:55:38.0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84" autoAdjust="0"/>
    <p:restoredTop sz="84504" autoAdjust="0"/>
  </p:normalViewPr>
  <p:slideViewPr>
    <p:cSldViewPr snapToGrid="0">
      <p:cViewPr>
        <p:scale>
          <a:sx n="66" d="100"/>
          <a:sy n="66" d="100"/>
        </p:scale>
        <p:origin x="1224" y="120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F15ACB-6D39-BD4E-B219-F3F80F4D5658}" type="datetimeFigureOut">
              <a:rPr lang="nb-NO" smtClean="0"/>
              <a:t>20.10.2025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53D036-F3E9-EE46-9B35-EC7759C2F543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3615457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44867-3A3C-8F4F-AA72-C1B9EB729F72}" type="datetimeFigureOut">
              <a:rPr lang="nb-NO" smtClean="0"/>
              <a:t>20.10.2025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5C457E-F630-C147-B67D-734B6B1CD9DE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7308156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C457E-F630-C147-B67D-734B6B1CD9DE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01860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C457E-F630-C147-B67D-734B6B1CD9DE}" type="slidenum">
              <a:rPr lang="nb-NO" smtClean="0"/>
              <a:t>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70209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5C457E-F630-C147-B67D-734B6B1CD9DE}" type="slidenum">
              <a:rPr lang="nb-NO" smtClean="0"/>
              <a:t>15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11658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Klikk for å redigere tittelstil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  <a:endParaRPr lang="nb-NO"/>
          </a:p>
        </p:txBody>
      </p:sp>
      <p:sp>
        <p:nvSpPr>
          <p:cNvPr id="7" name="Plassholder for dato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20.10.2025</a:t>
            </a:fld>
            <a:endParaRPr lang="nb-NO"/>
          </a:p>
        </p:txBody>
      </p:sp>
      <p:sp>
        <p:nvSpPr>
          <p:cNvPr id="8" name="Plassholder for bunn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9" name="Plassholder for lysbilde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38523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1-Gron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e 7" descr="HEX-pp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274053" y="1203159"/>
            <a:ext cx="8412748" cy="1784684"/>
          </a:xfrm>
        </p:spPr>
        <p:txBody>
          <a:bodyPr anchor="b">
            <a:normAutofit/>
          </a:bodyPr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Klikk for å redigere tittelstil</a:t>
            </a:r>
            <a:endParaRPr lang="nb-NO"/>
          </a:p>
        </p:txBody>
      </p:sp>
      <p:pic>
        <p:nvPicPr>
          <p:cNvPr id="9" name="Bild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pic>
        <p:nvPicPr>
          <p:cNvPr id="10" name="Bilde 9" descr="HEX-pp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1" name="Bild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44AB339-F0E1-A746-A0DD-B8B314440945}" type="datetime1">
              <a:rPr lang="nb-NO" smtClean="0"/>
              <a:t>20.10.2025</a:t>
            </a:fld>
            <a:endParaRPr lang="nb-NO"/>
          </a:p>
        </p:txBody>
      </p:sp>
      <p:sp>
        <p:nvSpPr>
          <p:cNvPr id="7" name="Plassholder for bunn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12" name="Plassholder for lysbildenumm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30912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or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Bilde 7" descr="HEX-pp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tel 1"/>
          <p:cNvSpPr>
            <a:spLocks noGrp="1"/>
          </p:cNvSpPr>
          <p:nvPr>
            <p:ph type="ctrTitle"/>
          </p:nvPr>
        </p:nvSpPr>
        <p:spPr>
          <a:xfrm>
            <a:off x="274053" y="1203159"/>
            <a:ext cx="8412748" cy="1784684"/>
          </a:xfrm>
        </p:spPr>
        <p:txBody>
          <a:bodyPr anchor="b">
            <a:normAutofit/>
          </a:bodyPr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Klikk for å redigere tittelstil</a:t>
            </a:r>
            <a:endParaRPr lang="nb-NO"/>
          </a:p>
        </p:txBody>
      </p:sp>
      <p:pic>
        <p:nvPicPr>
          <p:cNvPr id="9" name="Bild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pic>
        <p:nvPicPr>
          <p:cNvPr id="10" name="Bilde 9" descr="HEX-pp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1" name="Bild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590699-1352-D148-B251-D7C28FB0B6CC}" type="datetime1">
              <a:rPr lang="nb-NO" smtClean="0"/>
              <a:t>20.10.2025</a:t>
            </a:fld>
            <a:endParaRPr lang="nb-NO"/>
          </a:p>
        </p:txBody>
      </p:sp>
      <p:sp>
        <p:nvSpPr>
          <p:cNvPr id="7" name="Plassholder for bunn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12" name="Plassholder for lysbildenumm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348942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pittelside 1-Gron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10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1999"/>
            <a:ext cx="6075947" cy="3215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>
                <a:solidFill>
                  <a:srgbClr val="FFFFFF"/>
                </a:solidFill>
              </a:defRPr>
            </a:lvl1pPr>
          </a:lstStyle>
          <a:p>
            <a:r>
              <a:rPr lang="nb-NO"/>
              <a:t>KLIKK FOR Å REDIGERE TITTELSTIL</a:t>
            </a:r>
          </a:p>
        </p:txBody>
      </p:sp>
      <p:pic>
        <p:nvPicPr>
          <p:cNvPr id="7" name="Bild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1FF5EF9-C484-D748-964B-06FC147FE0F7}" type="datetime1">
              <a:rPr lang="nb-NO" smtClean="0"/>
              <a:t>20.10.2025</a:t>
            </a:fld>
            <a:endParaRPr lang="nb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98194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apittel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10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1999"/>
            <a:ext cx="6075947" cy="3215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>
                <a:solidFill>
                  <a:srgbClr val="FFFFFF"/>
                </a:solidFill>
              </a:defRPr>
            </a:lvl1pPr>
          </a:lstStyle>
          <a:p>
            <a:r>
              <a:rPr lang="nb-NO"/>
              <a:t>KLIKK FOR Å REDIGERE TITTELSTIL</a:t>
            </a:r>
          </a:p>
        </p:txBody>
      </p:sp>
      <p:pic>
        <p:nvPicPr>
          <p:cNvPr id="7" name="Bilde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782" y="33420"/>
            <a:ext cx="2643744" cy="732370"/>
          </a:xfrm>
          <a:prstGeom prst="rect">
            <a:avLst/>
          </a:prstGeom>
        </p:spPr>
      </p:pic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EE9DC53-2898-304E-8D88-1BB22CAC7760}" type="datetime1">
              <a:rPr lang="nb-NO" smtClean="0"/>
              <a:t>20.10.2025</a:t>
            </a:fld>
            <a:endParaRPr lang="nb-NO"/>
          </a:p>
        </p:txBody>
      </p:sp>
      <p:sp>
        <p:nvSpPr>
          <p:cNvPr id="3" name="Plassholder for bunn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73634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ittelside 1-Hexago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ssholder for tittel 1"/>
          <p:cNvSpPr>
            <a:spLocks noGrp="1"/>
          </p:cNvSpPr>
          <p:nvPr>
            <p:ph type="title" hasCustomPrompt="1"/>
          </p:nvPr>
        </p:nvSpPr>
        <p:spPr>
          <a:xfrm>
            <a:off x="1510632" y="762000"/>
            <a:ext cx="6075947" cy="19985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000"/>
            </a:lvl1pPr>
          </a:lstStyle>
          <a:p>
            <a:r>
              <a:rPr lang="nb-NO"/>
              <a:t>KLIKK FOR Å REDIGERE TITTELSTIL</a:t>
            </a:r>
          </a:p>
        </p:txBody>
      </p:sp>
    </p:spTree>
    <p:extLst>
      <p:ext uri="{BB962C8B-B14F-4D97-AF65-F5344CB8AC3E}">
        <p14:creationId xmlns:p14="http://schemas.microsoft.com/office/powerpoint/2010/main" val="3439050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Klikk for å redigere tittelstil</a:t>
            </a:r>
            <a:endParaRPr lang="nb-NO"/>
          </a:p>
        </p:txBody>
      </p:sp>
      <p:sp>
        <p:nvSpPr>
          <p:cNvPr id="3" name="Plassholder for innhold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  <a:endParaRPr lang="nb-NO"/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  <a:endParaRPr lang="nb-NO"/>
          </a:p>
        </p:txBody>
      </p:sp>
      <p:sp>
        <p:nvSpPr>
          <p:cNvPr id="8" name="Plassholder for dato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46D0C-2F8A-B642-A138-BA59C775D20D}" type="datetime1">
              <a:rPr lang="nb-NO" smtClean="0"/>
              <a:t>20.10.2025</a:t>
            </a:fld>
            <a:endParaRPr lang="nb-NO"/>
          </a:p>
        </p:txBody>
      </p:sp>
      <p:sp>
        <p:nvSpPr>
          <p:cNvPr id="9" name="Plassholder for bunntekst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10" name="Plassholder for lysbildenumm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87898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457200" y="675105"/>
            <a:ext cx="4040188" cy="95605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Klikk for å redigere tekststiler i malen</a:t>
            </a:r>
          </a:p>
        </p:txBody>
      </p:sp>
      <p:sp>
        <p:nvSpPr>
          <p:cNvPr id="4" name="Plassholder for innhold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</a:p>
        </p:txBody>
      </p:sp>
      <p:sp>
        <p:nvSpPr>
          <p:cNvPr id="5" name="Plassholder for tekst 4"/>
          <p:cNvSpPr>
            <a:spLocks noGrp="1"/>
          </p:cNvSpPr>
          <p:nvPr>
            <p:ph type="body" sz="quarter" idx="3"/>
          </p:nvPr>
        </p:nvSpPr>
        <p:spPr>
          <a:xfrm>
            <a:off x="4645026" y="675105"/>
            <a:ext cx="4041775" cy="95605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Klikk for å redigere tekststiler i malen</a:t>
            </a:r>
          </a:p>
        </p:txBody>
      </p:sp>
      <p:sp>
        <p:nvSpPr>
          <p:cNvPr id="6" name="Plassholder for innhold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Klikk for å redigere tekststiler i malen</a:t>
            </a:r>
          </a:p>
          <a:p>
            <a:pPr lvl="1"/>
            <a:r>
              <a:rPr lang="en-US"/>
              <a:t>Andre nivå</a:t>
            </a:r>
          </a:p>
          <a:p>
            <a:pPr lvl="2"/>
            <a:r>
              <a:rPr lang="en-US"/>
              <a:t>Tredje nivå</a:t>
            </a:r>
          </a:p>
          <a:p>
            <a:pPr lvl="3"/>
            <a:r>
              <a:rPr lang="en-US"/>
              <a:t>Fjerde nivå</a:t>
            </a:r>
          </a:p>
          <a:p>
            <a:pPr lvl="4"/>
            <a:r>
              <a:rPr lang="en-US"/>
              <a:t>Femte nivå</a:t>
            </a:r>
          </a:p>
        </p:txBody>
      </p:sp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A204A-9A75-3C4C-BAD0-3FE6FE661701}" type="datetime1">
              <a:rPr lang="nb-NO" smtClean="0"/>
              <a:t>20.10.2025</a:t>
            </a:fld>
            <a:endParaRPr lang="nb-NO"/>
          </a:p>
        </p:txBody>
      </p:sp>
      <p:sp>
        <p:nvSpPr>
          <p:cNvPr id="10" name="Plassholder for bunntekst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11" name="Plassholder for lysbildenumm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24599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Klikk for å redigere tittelstil</a:t>
            </a:r>
            <a:endParaRPr lang="nb-NO"/>
          </a:p>
        </p:txBody>
      </p:sp>
      <p:sp>
        <p:nvSpPr>
          <p:cNvPr id="6" name="Plassholder for dato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82955-BE7A-5C4C-84B8-41580681C190}" type="datetime1">
              <a:rPr lang="nb-NO" smtClean="0"/>
              <a:t>20.10.2025</a:t>
            </a:fld>
            <a:endParaRPr lang="nb-NO"/>
          </a:p>
        </p:txBody>
      </p:sp>
      <p:sp>
        <p:nvSpPr>
          <p:cNvPr id="7" name="Plassholder for bunntekst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893546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ssholder for dato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A57B6-EDFB-B447-8B14-79CCE6E543ED}" type="datetime1">
              <a:rPr lang="nb-NO" smtClean="0"/>
              <a:t>20.10.2025</a:t>
            </a:fld>
            <a:endParaRPr lang="nb-NO"/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20449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ssholder for bilde 2"/>
          <p:cNvSpPr>
            <a:spLocks noGrp="1"/>
          </p:cNvSpPr>
          <p:nvPr>
            <p:ph type="pic" idx="1" hasCustomPrompt="1"/>
          </p:nvPr>
        </p:nvSpPr>
        <p:spPr>
          <a:xfrm>
            <a:off x="0" y="100262"/>
            <a:ext cx="9144000" cy="4485105"/>
          </a:xfrm>
        </p:spPr>
        <p:txBody>
          <a:bodyPr anchor="ctr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b-NO"/>
              <a:t>Klikk her for å sette inn bilde</a:t>
            </a:r>
          </a:p>
        </p:txBody>
      </p:sp>
      <p:sp>
        <p:nvSpPr>
          <p:cNvPr id="2" name="Plassholder for dato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2B3D7-CAAD-CD4A-9ADE-B7023038E292}" type="datetime1">
              <a:rPr lang="nb-NO" smtClean="0"/>
              <a:t>20.10.2025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/>
              <a:t>Fornavn Etternavn | Avdelingsnavn</a:t>
            </a:r>
          </a:p>
        </p:txBody>
      </p:sp>
      <p:sp>
        <p:nvSpPr>
          <p:cNvPr id="8" name="Plassholder for lysbildenumm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57453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leside 1-Gronn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e 5" descr="HEX-hvit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e 6" descr="logo-0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  <p:pic>
        <p:nvPicPr>
          <p:cNvPr id="4" name="Bilde 3" descr="HEX-hvit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Bilde 4" descr="logo-01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871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vileside 1-Blaa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e 5" descr="HEX-hvitt-net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7" name="Bilde 6" descr="logo-0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  <p:pic>
        <p:nvPicPr>
          <p:cNvPr id="4" name="Bilde 3" descr="HEX-hvitt-nett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5" name="Bilde 4" descr="logo-01.pn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9263" y="741033"/>
            <a:ext cx="6245475" cy="173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467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5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/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/>
          <p:cNvSpPr>
            <a:spLocks noGrp="1"/>
          </p:cNvSpPr>
          <p:nvPr>
            <p:ph type="dt" sz="half" idx="2"/>
          </p:nvPr>
        </p:nvSpPr>
        <p:spPr>
          <a:xfrm>
            <a:off x="6697576" y="4768684"/>
            <a:ext cx="168442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Source Sans Pro"/>
              </a:defRPr>
            </a:lvl1pPr>
          </a:lstStyle>
          <a:p>
            <a:fld id="{301028B7-40B6-B141-A86D-F90DE572F70B}" type="datetime1">
              <a:rPr lang="nb-NO" smtClean="0"/>
              <a:t>20.10.2025</a:t>
            </a:fld>
            <a:endParaRPr lang="nb-NO"/>
          </a:p>
        </p:txBody>
      </p:sp>
      <p:sp>
        <p:nvSpPr>
          <p:cNvPr id="5" name="Plassholder for bunntekst 4"/>
          <p:cNvSpPr>
            <a:spLocks noGrp="1"/>
          </p:cNvSpPr>
          <p:nvPr>
            <p:ph type="ftr" sz="quarter" idx="3"/>
          </p:nvPr>
        </p:nvSpPr>
        <p:spPr>
          <a:xfrm>
            <a:off x="316835" y="4767263"/>
            <a:ext cx="592622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101820"/>
                </a:solidFill>
                <a:latin typeface="Source Sans Pro"/>
              </a:defRPr>
            </a:lvl1pPr>
          </a:lstStyle>
          <a:p>
            <a:r>
              <a:rPr lang="nb-NO"/>
              <a:t>Fornavn Etternavn | Avdelingsnavn</a:t>
            </a:r>
          </a:p>
        </p:txBody>
      </p:sp>
      <p:sp>
        <p:nvSpPr>
          <p:cNvPr id="6" name="Plassholder for lysbildenummer 5"/>
          <p:cNvSpPr>
            <a:spLocks noGrp="1"/>
          </p:cNvSpPr>
          <p:nvPr>
            <p:ph type="sldNum" sz="quarter" idx="4"/>
          </p:nvPr>
        </p:nvSpPr>
        <p:spPr>
          <a:xfrm>
            <a:off x="8381996" y="4767263"/>
            <a:ext cx="41174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101820"/>
                </a:solidFill>
                <a:latin typeface="Source Sans Pro"/>
              </a:defRPr>
            </a:lvl1pPr>
          </a:lstStyle>
          <a:p>
            <a:fld id="{28ECCE09-4EB9-D24E-99A2-F5BDA1BD657E}" type="slidenum">
              <a:rPr lang="nb-NO" smtClean="0"/>
              <a:pPr/>
              <a:t>‹#›</a:t>
            </a:fld>
            <a:endParaRPr lang="nb-NO"/>
          </a:p>
        </p:txBody>
      </p:sp>
      <p:pic>
        <p:nvPicPr>
          <p:cNvPr id="7" name="Bilde 6" descr="logo-nor.pn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309" y="33420"/>
            <a:ext cx="2648691" cy="732370"/>
          </a:xfrm>
          <a:prstGeom prst="rect">
            <a:avLst/>
          </a:prstGeom>
        </p:spPr>
      </p:pic>
      <p:pic>
        <p:nvPicPr>
          <p:cNvPr id="8" name="Bilde 7" descr="logo-nor.pn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309" y="33420"/>
            <a:ext cx="2648691" cy="73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296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800" kern="1200" baseline="0">
          <a:solidFill>
            <a:schemeClr val="tx1"/>
          </a:solidFill>
          <a:latin typeface="Source Sans Pro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2400" kern="1200">
          <a:solidFill>
            <a:schemeClr val="tx1"/>
          </a:solidFill>
          <a:latin typeface="Source Sans Pro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2000" kern="1200">
          <a:solidFill>
            <a:schemeClr val="tx1"/>
          </a:solidFill>
          <a:latin typeface="Source Sans Pro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1800" kern="1200">
          <a:solidFill>
            <a:schemeClr val="tx1"/>
          </a:solidFill>
          <a:latin typeface="Source Sans Pro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1600" kern="1200">
          <a:solidFill>
            <a:schemeClr val="tx1"/>
          </a:solidFill>
          <a:latin typeface="Source Sans Pro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SzPct val="100000"/>
        <a:buFontTx/>
        <a:buBlip>
          <a:blip r:embed="rId17"/>
        </a:buBlip>
        <a:defRPr sz="1400" kern="1200">
          <a:solidFill>
            <a:schemeClr val="tx1"/>
          </a:solidFill>
          <a:latin typeface="Source Sans Pro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tel 5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nb-NO" dirty="0"/>
              <a:t>Introduksjon til miljøsensorer</a:t>
            </a:r>
            <a:endParaRPr lang="nb-NO" sz="2400" dirty="0"/>
          </a:p>
        </p:txBody>
      </p:sp>
      <p:sp>
        <p:nvSpPr>
          <p:cNvPr id="3" name="Plassholder for dato 2"/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/>
          <a:lstStyle/>
          <a:p>
            <a:fld id="{CEBE5A08-4597-EE48-8595-2652A3602EC3}" type="datetime1">
              <a:rPr lang="nb-NO" smtClean="0"/>
              <a:t>20.10.2025</a:t>
            </a:fld>
            <a:endParaRPr lang="nb-NO"/>
          </a:p>
        </p:txBody>
      </p:sp>
      <p:sp>
        <p:nvSpPr>
          <p:cNvPr id="4" name="Plassholder for bunntekst 3"/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5" name="Plassholder for lysbildenummer 4"/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/>
          <a:lstStyle/>
          <a:p>
            <a:fld id="{28ECCE09-4EB9-D24E-99A2-F5BDA1BD657E}" type="slidenum">
              <a:rPr lang="nb-NO" smtClean="0"/>
              <a:pPr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09090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6893A-7972-32D7-3CE4-04A949791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/>
              <a:t>Grunnleggende bruk av miljøsensor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B4A41-4E34-75A7-2867-A6F9CB7C23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nb-NO" sz="1600" dirty="0"/>
              <a:t>Gassdeteksjon og luftkvalitet</a:t>
            </a:r>
          </a:p>
          <a:p>
            <a:pPr>
              <a:lnSpc>
                <a:spcPct val="90000"/>
              </a:lnSpc>
            </a:pPr>
            <a:r>
              <a:rPr lang="nb-NO" sz="1600" dirty="0"/>
              <a:t>Luftkvalitetsindeks AQI</a:t>
            </a:r>
          </a:p>
          <a:p>
            <a:pPr>
              <a:lnSpc>
                <a:spcPct val="90000"/>
              </a:lnSpc>
            </a:pPr>
            <a:r>
              <a:rPr lang="nb-NO" sz="1600" dirty="0"/>
              <a:t>Prinsippet bak metall-oksid-sensorer (MOX)</a:t>
            </a:r>
          </a:p>
          <a:p>
            <a:pPr>
              <a:lnSpc>
                <a:spcPct val="90000"/>
              </a:lnSpc>
            </a:pPr>
            <a:r>
              <a:rPr lang="nb-NO" sz="1600" dirty="0"/>
              <a:t>Sensoren ENS160</a:t>
            </a:r>
          </a:p>
          <a:p>
            <a:pPr>
              <a:lnSpc>
                <a:spcPct val="90000"/>
              </a:lnSpc>
            </a:pPr>
            <a:r>
              <a:rPr lang="nb-NO" sz="1600" dirty="0"/>
              <a:t>Hvorfor man bruker BME280 sammen med ENS160.</a:t>
            </a:r>
          </a:p>
          <a:p>
            <a:pPr>
              <a:lnSpc>
                <a:spcPct val="90000"/>
              </a:lnSpc>
            </a:pPr>
            <a:r>
              <a:rPr lang="nb-NO" sz="1600" dirty="0"/>
              <a:t>Forskjellen mellom ekte CO₂-sensor og </a:t>
            </a:r>
            <a:r>
              <a:rPr lang="nb-NO" sz="1600" dirty="0" err="1"/>
              <a:t>eCO</a:t>
            </a:r>
            <a:r>
              <a:rPr lang="nb-NO" sz="1600" dirty="0"/>
              <a:t>₂-estimat.</a:t>
            </a:r>
          </a:p>
          <a:p>
            <a:pPr>
              <a:lnSpc>
                <a:spcPct val="90000"/>
              </a:lnSpc>
            </a:pPr>
            <a:r>
              <a:rPr lang="nb-NO" sz="1600" dirty="0"/>
              <a:t>Oppstart og oppvarmingstid / kalibrering – sensoren trenger stabil drift før nøyaktige målinger.</a:t>
            </a:r>
          </a:p>
          <a:p>
            <a:pPr>
              <a:lnSpc>
                <a:spcPct val="90000"/>
              </a:lnSpc>
            </a:pPr>
            <a:r>
              <a:rPr lang="nb-NO" sz="1600" dirty="0"/>
              <a:t>Introduksjon til bruk av ENS160</a:t>
            </a:r>
          </a:p>
        </p:txBody>
      </p:sp>
      <p:pic>
        <p:nvPicPr>
          <p:cNvPr id="8" name="Picture 7" descr="A black and white electronic device&#10;&#10;AI-generated content may be incorrect.">
            <a:extLst>
              <a:ext uri="{FF2B5EF4-FFF2-40B4-BE49-F238E27FC236}">
                <a16:creationId xmlns:a16="http://schemas.microsoft.com/office/drawing/2014/main" id="{B0ACA71B-3797-ADD0-F10F-0A879F724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382912"/>
            <a:ext cx="4038600" cy="3028950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2D6B6-7DC8-6E46-F877-D341B2B8195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20.10.2025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7B165-5834-91C9-8FDD-E14A0F078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nb-NO" dirty="0"/>
              <a:t>Martin Arthur Andersen, Fakultet for informasjonsteknologi, ingeniørfag og økonomi</a:t>
            </a:r>
            <a:endParaRPr lang="nb-N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0FB5A-EA0A-8244-0900-D3E49666F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97358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8D556-C5A0-0443-9B10-78B076F89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Hva er en </a:t>
            </a:r>
            <a:r>
              <a:rPr lang="nb-NO" dirty="0" err="1"/>
              <a:t>gassensor</a:t>
            </a:r>
            <a:r>
              <a:rPr lang="nb-NO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5B2C6-1B5E-A9A9-55DB-C75D543659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b-NO" dirty="0"/>
              <a:t>Gassdeteksjon</a:t>
            </a:r>
          </a:p>
          <a:p>
            <a:r>
              <a:rPr lang="nb-NO" dirty="0"/>
              <a:t>Måler tilstedeværelse av bestemte gasser i lufta</a:t>
            </a:r>
          </a:p>
          <a:p>
            <a:pPr lvl="1"/>
            <a:r>
              <a:rPr lang="nb-NO" dirty="0"/>
              <a:t>Reagerer kjemisk eller elektrisk på gasskonsentrasjon</a:t>
            </a:r>
          </a:p>
          <a:p>
            <a:r>
              <a:rPr lang="nb-NO" dirty="0"/>
              <a:t>Brukes i sikkerhetssystemer (eks CO-, metan- eller røykdeteksjon)</a:t>
            </a:r>
          </a:p>
          <a:p>
            <a:r>
              <a:rPr lang="nb-NO" dirty="0"/>
              <a:t>Gir rådata (analog eller digital verdi) som representerer gassnivået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FE4A94-CBD6-FE42-E490-C63E38DEADB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b-NO" dirty="0"/>
              <a:t>Luftkvalitetsvurdering</a:t>
            </a:r>
          </a:p>
          <a:p>
            <a:r>
              <a:rPr lang="nb-NO" dirty="0"/>
              <a:t>Kombinerer flere gassmålinger for å vurdere total luftkvalitet</a:t>
            </a:r>
          </a:p>
          <a:p>
            <a:pPr lvl="1"/>
            <a:r>
              <a:rPr lang="nb-NO" dirty="0"/>
              <a:t>Beregner fra </a:t>
            </a:r>
            <a:r>
              <a:rPr lang="nb-NO" dirty="0" err="1"/>
              <a:t>sensordata</a:t>
            </a:r>
            <a:endParaRPr lang="nb-NO" dirty="0"/>
          </a:p>
          <a:p>
            <a:pPr lvl="1"/>
            <a:r>
              <a:rPr lang="nb-NO" dirty="0"/>
              <a:t>Tar hensyn til temperatur og luftfuktighet for mer nøyaktige verdier</a:t>
            </a:r>
          </a:p>
          <a:p>
            <a:r>
              <a:rPr lang="nb-NO" dirty="0"/>
              <a:t>Gir en “tolket” vurdering – ikke bare rå gassnivåer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923EC-1D89-6F1C-249B-D7FA898BB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46D0C-2F8A-B642-A138-BA59C775D20D}" type="datetime1">
              <a:rPr lang="nb-NO" smtClean="0"/>
              <a:t>20.10.2025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816B3E-516C-E231-95E2-C3C8A1F7F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BF2A3F-2F2D-C7E5-E5A4-EAA6FAEAF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62986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8772-C47E-AB3A-99EA-E31F85B34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 dirty="0"/>
              <a:t>Luftkvalitet AQI – Enkelt forklart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F5161-4843-6135-B875-A2E51EE602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nb-NO" sz="1400" dirty="0"/>
              <a:t>AQI = Air </a:t>
            </a:r>
            <a:r>
              <a:rPr lang="nb-NO" sz="1400" dirty="0" err="1"/>
              <a:t>Quality</a:t>
            </a:r>
            <a:r>
              <a:rPr lang="nb-NO" sz="1400" dirty="0"/>
              <a:t> Index</a:t>
            </a:r>
          </a:p>
          <a:p>
            <a:pPr>
              <a:lnSpc>
                <a:spcPct val="90000"/>
              </a:lnSpc>
            </a:pPr>
            <a:r>
              <a:rPr lang="nb-NO" sz="1400" dirty="0"/>
              <a:t>Tall 1-5</a:t>
            </a:r>
          </a:p>
          <a:p>
            <a:pPr>
              <a:lnSpc>
                <a:spcPct val="90000"/>
              </a:lnSpc>
            </a:pPr>
            <a:r>
              <a:rPr lang="nb-NO" sz="1400" dirty="0"/>
              <a:t>Beskriver hvor ren eller forurenset luften er</a:t>
            </a:r>
          </a:p>
          <a:p>
            <a:pPr>
              <a:lnSpc>
                <a:spcPct val="90000"/>
              </a:lnSpc>
            </a:pPr>
            <a:r>
              <a:rPr lang="nb-NO" sz="1400" dirty="0"/>
              <a:t>Påvirkes av partikler, gasser og flyktige organiske forbindelser (VOC)</a:t>
            </a:r>
          </a:p>
          <a:p>
            <a:pPr>
              <a:lnSpc>
                <a:spcPct val="90000"/>
              </a:lnSpc>
            </a:pPr>
            <a:r>
              <a:rPr lang="nb-NO" sz="1400" dirty="0"/>
              <a:t>Sensorer registrerer gasskonsentrasjoner</a:t>
            </a:r>
          </a:p>
          <a:p>
            <a:pPr>
              <a:lnSpc>
                <a:spcPct val="90000"/>
              </a:lnSpc>
            </a:pPr>
            <a:r>
              <a:rPr lang="nb-NO" sz="1400" dirty="0"/>
              <a:t>Målingene kombineres til samleparametere:</a:t>
            </a:r>
          </a:p>
          <a:p>
            <a:pPr lvl="1">
              <a:lnSpc>
                <a:spcPct val="90000"/>
              </a:lnSpc>
            </a:pPr>
            <a:r>
              <a:rPr lang="nb-NO" sz="1400" dirty="0"/>
              <a:t>TVOC (Total Volatile </a:t>
            </a:r>
            <a:r>
              <a:rPr lang="nb-NO" sz="1400" dirty="0" err="1"/>
              <a:t>Organic</a:t>
            </a:r>
            <a:r>
              <a:rPr lang="nb-NO" sz="1400" dirty="0"/>
              <a:t> </a:t>
            </a:r>
            <a:r>
              <a:rPr lang="nb-NO" sz="1400" dirty="0" err="1"/>
              <a:t>Compounds</a:t>
            </a:r>
            <a:r>
              <a:rPr lang="nb-NO" sz="1400" dirty="0"/>
              <a:t>)</a:t>
            </a:r>
          </a:p>
          <a:p>
            <a:pPr lvl="1">
              <a:lnSpc>
                <a:spcPct val="90000"/>
              </a:lnSpc>
            </a:pPr>
            <a:r>
              <a:rPr lang="nb-NO" sz="1400" dirty="0" err="1"/>
              <a:t>eCO</a:t>
            </a:r>
            <a:r>
              <a:rPr lang="nb-NO" sz="1400" dirty="0"/>
              <a:t>₂ (beregnet CO₂-ekvivalent)</a:t>
            </a:r>
          </a:p>
          <a:p>
            <a:pPr lvl="1">
              <a:lnSpc>
                <a:spcPct val="90000"/>
              </a:lnSpc>
            </a:pPr>
            <a:r>
              <a:rPr lang="nb-NO" sz="1400" dirty="0"/>
              <a:t>Data korrigeres for temperatur og luftfuktighet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DF0CD4-C53F-614D-79AE-00CE928BE1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2205777"/>
            <a:ext cx="4038600" cy="1383220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C4E2DE-A999-4DF8-2854-AA53E6F9E8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20.10.2025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DA4EA-00E0-0D68-F63B-CF874DA47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62812-F092-5FDC-EAE2-466D1FA05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73378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D70A9-1407-DEF2-C197-281B4BD96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/>
              <a:t>Prinsippet bak metall-oksid-sensorer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E037A-F095-09B0-2F45-0335B66EA3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nb-NO" sz="1100" dirty="0"/>
              <a:t>Sensoren har et tynt lag av metalloksid på et varmeelement</a:t>
            </a:r>
          </a:p>
          <a:p>
            <a:pPr>
              <a:lnSpc>
                <a:spcPct val="90000"/>
              </a:lnSpc>
            </a:pPr>
            <a:r>
              <a:rPr lang="nb-NO" sz="1100" dirty="0"/>
              <a:t>Når sensoren varmes opp, reagerer oksygen i lufta med overflaten og fanger elektroner</a:t>
            </a:r>
          </a:p>
          <a:p>
            <a:pPr>
              <a:lnSpc>
                <a:spcPct val="90000"/>
              </a:lnSpc>
            </a:pPr>
            <a:r>
              <a:rPr lang="nb-NO" sz="1100" dirty="0"/>
              <a:t>Når reduserende gasser (f.eks. etanol, aceton, CO) treffer overflaten, frigjøres elektroner tilbake til materialet</a:t>
            </a:r>
          </a:p>
          <a:p>
            <a:pPr>
              <a:lnSpc>
                <a:spcPct val="90000"/>
              </a:lnSpc>
            </a:pPr>
            <a:r>
              <a:rPr lang="nb-NO" sz="1100" dirty="0"/>
              <a:t>Dette endrer motstanden i laget – som måles elektronisk </a:t>
            </a:r>
          </a:p>
          <a:p>
            <a:pPr>
              <a:lnSpc>
                <a:spcPct val="90000"/>
              </a:lnSpc>
            </a:pPr>
            <a:r>
              <a:rPr lang="nb-NO" sz="1100" dirty="0"/>
              <a:t>Endring i elektrisk motstand → endring i gasskonsentrasjon</a:t>
            </a:r>
          </a:p>
          <a:p>
            <a:pPr>
              <a:lnSpc>
                <a:spcPct val="90000"/>
              </a:lnSpc>
            </a:pPr>
            <a:r>
              <a:rPr lang="nb-NO" sz="1100" dirty="0"/>
              <a:t>Sensoren i seg selv måler ikke “type gass”, men summen av kjemiske reaksjoner</a:t>
            </a:r>
          </a:p>
          <a:p>
            <a:pPr>
              <a:lnSpc>
                <a:spcPct val="90000"/>
              </a:lnSpc>
            </a:pPr>
            <a:r>
              <a:rPr lang="nb-NO" sz="1100" dirty="0"/>
              <a:t>Innebygde algoritmer analyserer mønstre over tid og estimerer:</a:t>
            </a:r>
          </a:p>
          <a:p>
            <a:pPr lvl="1">
              <a:lnSpc>
                <a:spcPct val="90000"/>
              </a:lnSpc>
            </a:pPr>
            <a:r>
              <a:rPr lang="nb-NO" sz="900" dirty="0"/>
              <a:t>TVOC (Total Volatile </a:t>
            </a:r>
            <a:r>
              <a:rPr lang="nb-NO" sz="900" dirty="0" err="1"/>
              <a:t>Organic</a:t>
            </a:r>
            <a:r>
              <a:rPr lang="nb-NO" sz="900" dirty="0"/>
              <a:t> </a:t>
            </a:r>
            <a:r>
              <a:rPr lang="nb-NO" sz="900" dirty="0" err="1"/>
              <a:t>Compounds</a:t>
            </a:r>
            <a:r>
              <a:rPr lang="nb-NO" sz="900" dirty="0"/>
              <a:t>)</a:t>
            </a:r>
          </a:p>
          <a:p>
            <a:pPr lvl="1">
              <a:lnSpc>
                <a:spcPct val="90000"/>
              </a:lnSpc>
            </a:pPr>
            <a:r>
              <a:rPr lang="nb-NO" sz="900" dirty="0" err="1"/>
              <a:t>eCO</a:t>
            </a:r>
            <a:r>
              <a:rPr lang="nb-NO" sz="900" dirty="0"/>
              <a:t>₂ (beregnet CO₂-ekvivalent)</a:t>
            </a:r>
          </a:p>
          <a:p>
            <a:pPr lvl="1">
              <a:lnSpc>
                <a:spcPct val="90000"/>
              </a:lnSpc>
            </a:pPr>
            <a:r>
              <a:rPr lang="nb-NO" sz="900" dirty="0"/>
              <a:t>AQI (Air </a:t>
            </a:r>
            <a:r>
              <a:rPr lang="nb-NO" sz="900" dirty="0" err="1"/>
              <a:t>Quality</a:t>
            </a:r>
            <a:r>
              <a:rPr lang="nb-NO" sz="900" dirty="0"/>
              <a:t> Index) </a:t>
            </a:r>
          </a:p>
          <a:p>
            <a:pPr>
              <a:lnSpc>
                <a:spcPct val="90000"/>
              </a:lnSpc>
            </a:pPr>
            <a:r>
              <a:rPr lang="nb-NO" sz="1300" dirty="0"/>
              <a:t>Temperatur påvirker reaksjonshastigheten og må holdes stabil</a:t>
            </a:r>
          </a:p>
          <a:p>
            <a:pPr>
              <a:lnSpc>
                <a:spcPct val="90000"/>
              </a:lnSpc>
            </a:pPr>
            <a:r>
              <a:rPr lang="nb-NO" sz="1100" dirty="0"/>
              <a:t>Fuktighet påvirker ionisering og følsomhet</a:t>
            </a:r>
          </a:p>
          <a:p>
            <a:pPr>
              <a:lnSpc>
                <a:spcPct val="90000"/>
              </a:lnSpc>
            </a:pPr>
            <a:r>
              <a:rPr lang="nb-NO" sz="1100" dirty="0"/>
              <a:t>Sensoren må kalibreres og “varmes opp” for å lære bakgrunnsnivået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644763D-591F-923E-A2BC-6769B5161F2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47" b="4"/>
          <a:stretch>
            <a:fillRect/>
          </a:stretch>
        </p:blipFill>
        <p:spPr>
          <a:xfrm>
            <a:off x="4648200" y="1200151"/>
            <a:ext cx="4038600" cy="3394472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DBCA4-A6A0-17FF-5AE8-582311C8931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20.10.2025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2218C-7010-CF1B-22E6-C0DB11299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CFA3E-B442-B45D-5218-3B9B7C557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04826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A5D4D-6F06-8989-ADD9-6BDB3639D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/>
              <a:t>ENS160 – Sensoren som trenger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1DA4D-79FE-230E-4250-4FACC0BBA5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nb-NO" sz="1100"/>
              <a:t>ENS160 har en intern mikrokontroller med ferdigprogrammert programvare</a:t>
            </a:r>
          </a:p>
          <a:p>
            <a:pPr>
              <a:lnSpc>
                <a:spcPct val="90000"/>
              </a:lnSpc>
            </a:pPr>
            <a:r>
              <a:rPr lang="nb-NO" sz="1100"/>
              <a:t>Den analyserer signalene fra sensorens metalloksid-elementer</a:t>
            </a:r>
          </a:p>
          <a:p>
            <a:pPr>
              <a:lnSpc>
                <a:spcPct val="90000"/>
              </a:lnSpc>
            </a:pPr>
            <a:r>
              <a:rPr lang="nb-NO" sz="1100"/>
              <a:t>I stedet for å sende rå motstandsverdier, sender sensoren beregnede resultater.</a:t>
            </a:r>
          </a:p>
          <a:p>
            <a:pPr lvl="1">
              <a:lnSpc>
                <a:spcPct val="90000"/>
              </a:lnSpc>
            </a:pPr>
            <a:r>
              <a:rPr lang="nb-NO" sz="1100"/>
              <a:t>Leser motstandsverdiene fra fire sensorelementer</a:t>
            </a:r>
          </a:p>
          <a:p>
            <a:pPr lvl="1">
              <a:lnSpc>
                <a:spcPct val="90000"/>
              </a:lnSpc>
            </a:pPr>
            <a:r>
              <a:rPr lang="nb-NO" sz="1100"/>
              <a:t>Kompenserer for temperatur og fuktighet</a:t>
            </a:r>
          </a:p>
          <a:p>
            <a:pPr lvl="1">
              <a:lnSpc>
                <a:spcPct val="90000"/>
              </a:lnSpc>
            </a:pPr>
            <a:r>
              <a:rPr lang="nb-NO" sz="1100"/>
              <a:t>Sammenligner data med interne referansemodeller</a:t>
            </a:r>
          </a:p>
          <a:p>
            <a:pPr lvl="1">
              <a:lnSpc>
                <a:spcPct val="90000"/>
              </a:lnSpc>
            </a:pPr>
            <a:r>
              <a:rPr lang="nb-NO" sz="1100"/>
              <a:t>Beregner samleverdier (TVOC, </a:t>
            </a:r>
            <a:r>
              <a:rPr lang="nb-NO" sz="1100" err="1"/>
              <a:t>eCO</a:t>
            </a:r>
            <a:r>
              <a:rPr lang="nb-NO" sz="1100"/>
              <a:t>₂, AQI)</a:t>
            </a:r>
          </a:p>
          <a:p>
            <a:pPr lvl="1">
              <a:lnSpc>
                <a:spcPct val="90000"/>
              </a:lnSpc>
            </a:pPr>
            <a:r>
              <a:rPr lang="nb-NO" sz="1100"/>
              <a:t>Oppdaterer kontinuerlig over tid for å følge endringer i luftkvalitet</a:t>
            </a:r>
          </a:p>
          <a:p>
            <a:pPr>
              <a:lnSpc>
                <a:spcPct val="90000"/>
              </a:lnSpc>
            </a:pPr>
            <a:r>
              <a:rPr lang="nb-NO" sz="1100"/>
              <a:t>Du slipper å programmere egne beregninger</a:t>
            </a:r>
          </a:p>
          <a:p>
            <a:pPr>
              <a:lnSpc>
                <a:spcPct val="90000"/>
              </a:lnSpc>
            </a:pPr>
            <a:r>
              <a:rPr lang="nb-NO" sz="1100"/>
              <a:t>Sensoren gir stabile og kalibrerte verdier direkte</a:t>
            </a:r>
          </a:p>
          <a:p>
            <a:pPr>
              <a:lnSpc>
                <a:spcPct val="90000"/>
              </a:lnSpc>
            </a:pPr>
            <a:r>
              <a:rPr lang="nb-NO" sz="1100"/>
              <a:t>Resultatene er konsistente mellom sensorer (samme algoritme i hver)</a:t>
            </a:r>
          </a:p>
          <a:p>
            <a:pPr>
              <a:lnSpc>
                <a:spcPct val="90000"/>
              </a:lnSpc>
            </a:pPr>
            <a:r>
              <a:rPr lang="nb-NO" sz="1100"/>
              <a:t>Men: algoritmen er </a:t>
            </a:r>
            <a:r>
              <a:rPr lang="nb-NO" sz="1100" b="1"/>
              <a:t>lukket</a:t>
            </a:r>
            <a:r>
              <a:rPr lang="nb-NO" sz="1100"/>
              <a:t> (ikke åpen kildekode) – man vet ikke nøyaktig hvordan tallene beregnes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4A9693-CAA9-D241-6DC9-C31799D7C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796868"/>
            <a:ext cx="4038600" cy="2201037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3F6FB-71EA-55A7-CEA8-403BE7E855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20.10.2025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E4DE3-A51D-755F-F075-4DF455F86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0DDA3-0540-6A82-F311-E1831F530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44050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E6525-3FAD-76F2-8538-FA6847084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Hvorfor man bruker BME280 sammen med ENS160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AD99A-F2DE-7FF2-E2C8-46A0C4348C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nb-NO" dirty="0"/>
              <a:t>Gassmålinger påvirkes av temperatur og luftfuktighet</a:t>
            </a:r>
          </a:p>
          <a:p>
            <a:r>
              <a:rPr lang="nb-NO" dirty="0"/>
              <a:t>Endringer i temperatur kan endre motstanden i sensorelementet</a:t>
            </a:r>
          </a:p>
          <a:p>
            <a:r>
              <a:rPr lang="nb-NO" dirty="0"/>
              <a:t>Fuktighet endrer ioniseringen på metalloksid-overflaten</a:t>
            </a:r>
          </a:p>
          <a:p>
            <a:r>
              <a:rPr lang="nb-NO" dirty="0"/>
              <a:t>Feilaktige TVOC- og </a:t>
            </a:r>
            <a:r>
              <a:rPr lang="nb-NO" dirty="0" err="1"/>
              <a:t>eCO</a:t>
            </a:r>
            <a:r>
              <a:rPr lang="nb-NO" dirty="0"/>
              <a:t>₂-verdier hvis sensoren ikke korrigeres</a:t>
            </a:r>
          </a:p>
          <a:p>
            <a:r>
              <a:rPr lang="nb-NO" dirty="0"/>
              <a:t>Verdiene sendes til ENS160 med:</a:t>
            </a:r>
          </a:p>
          <a:p>
            <a:pPr marL="0" indent="0">
              <a:buNone/>
            </a:pPr>
            <a:r>
              <a:rPr lang="nb-NO" dirty="0"/>
              <a:t>	</a:t>
            </a:r>
            <a:r>
              <a:rPr lang="nb-NO" dirty="0" err="1"/>
              <a:t>mySensor.setTempAndHum</a:t>
            </a:r>
            <a:r>
              <a:rPr lang="nb-NO" dirty="0"/>
              <a:t>(</a:t>
            </a:r>
            <a:r>
              <a:rPr lang="nb-NO" dirty="0" err="1"/>
              <a:t>temperature</a:t>
            </a:r>
            <a:r>
              <a:rPr lang="nb-NO" dirty="0"/>
              <a:t>, </a:t>
            </a:r>
            <a:r>
              <a:rPr lang="nb-NO" dirty="0" err="1"/>
              <a:t>humidity</a:t>
            </a:r>
            <a:r>
              <a:rPr lang="nb-NO" dirty="0"/>
              <a:t>);</a:t>
            </a:r>
          </a:p>
          <a:p>
            <a:r>
              <a:rPr lang="nb-NO" dirty="0"/>
              <a:t>ENS160 bruker disse verdiene for å justere måleresultatene i sin interne algoritme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C5CB7-2CDF-9E66-1DA5-B0379F4CE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20.10.2025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FFD29-2CCD-1872-65AB-5A97B3FDF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251DE6-311A-D5E4-6B37-9CD018B6A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17826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52C7A-EA7A-11DB-338B-584B45EEF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/>
              <a:t>Forskjellen mellom ekte CO₂-sensor og </a:t>
            </a:r>
            <a:r>
              <a:rPr lang="nb-NO" sz="2600" err="1"/>
              <a:t>eCO</a:t>
            </a:r>
            <a:r>
              <a:rPr lang="nb-NO" sz="2600"/>
              <a:t>₂-estimat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7D093E3-33DB-1785-1867-31057AC734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Måler</a:t>
            </a:r>
            <a:r>
              <a:rPr lang="en-US" dirty="0"/>
              <a:t> </a:t>
            </a:r>
            <a:r>
              <a:rPr lang="en-US" dirty="0" err="1"/>
              <a:t>faktisk</a:t>
            </a:r>
            <a:r>
              <a:rPr lang="en-US" dirty="0"/>
              <a:t> CO₂-</a:t>
            </a:r>
            <a:r>
              <a:rPr lang="en-US" dirty="0" err="1"/>
              <a:t>gass</a:t>
            </a:r>
            <a:r>
              <a:rPr lang="en-US" dirty="0"/>
              <a:t> </a:t>
            </a:r>
            <a:r>
              <a:rPr lang="en-US" dirty="0" err="1"/>
              <a:t>direkte</a:t>
            </a:r>
            <a:endParaRPr lang="en-US" dirty="0"/>
          </a:p>
          <a:p>
            <a:r>
              <a:rPr lang="en-US" dirty="0"/>
              <a:t>Bruker </a:t>
            </a:r>
            <a:r>
              <a:rPr lang="en-US" dirty="0" err="1"/>
              <a:t>infrarød</a:t>
            </a:r>
            <a:r>
              <a:rPr lang="en-US" dirty="0"/>
              <a:t> (NDIR) </a:t>
            </a:r>
            <a:r>
              <a:rPr lang="en-US" dirty="0" err="1"/>
              <a:t>teknologi</a:t>
            </a:r>
            <a:r>
              <a:rPr lang="en-US" dirty="0"/>
              <a:t>: </a:t>
            </a:r>
          </a:p>
          <a:p>
            <a:pPr lvl="1"/>
            <a:r>
              <a:rPr lang="en-US" dirty="0"/>
              <a:t>CO₂ </a:t>
            </a:r>
            <a:r>
              <a:rPr lang="en-US" dirty="0" err="1"/>
              <a:t>absorberer</a:t>
            </a:r>
            <a:r>
              <a:rPr lang="en-US" dirty="0"/>
              <a:t> </a:t>
            </a:r>
            <a:r>
              <a:rPr lang="en-US" dirty="0" err="1"/>
              <a:t>lys</a:t>
            </a:r>
            <a:r>
              <a:rPr lang="en-US" dirty="0"/>
              <a:t> </a:t>
            </a:r>
            <a:r>
              <a:rPr lang="en-US" dirty="0" err="1"/>
              <a:t>ved</a:t>
            </a:r>
            <a:r>
              <a:rPr lang="en-US" dirty="0"/>
              <a:t> </a:t>
            </a:r>
            <a:r>
              <a:rPr lang="en-US" dirty="0" err="1"/>
              <a:t>bestemte</a:t>
            </a:r>
            <a:r>
              <a:rPr lang="en-US" dirty="0"/>
              <a:t> </a:t>
            </a:r>
            <a:r>
              <a:rPr lang="en-US" dirty="0" err="1"/>
              <a:t>bølgelengder</a:t>
            </a:r>
            <a:endParaRPr lang="en-US" dirty="0"/>
          </a:p>
          <a:p>
            <a:pPr lvl="1"/>
            <a:r>
              <a:rPr lang="en-US" dirty="0"/>
              <a:t>Gir </a:t>
            </a:r>
            <a:r>
              <a:rPr lang="en-US" dirty="0" err="1"/>
              <a:t>nøyaktige</a:t>
            </a:r>
            <a:r>
              <a:rPr lang="en-US" dirty="0"/>
              <a:t> malinger</a:t>
            </a:r>
          </a:p>
          <a:p>
            <a:r>
              <a:rPr lang="en-US" dirty="0"/>
              <a:t>Krever </a:t>
            </a:r>
            <a:r>
              <a:rPr lang="en-US" dirty="0" err="1"/>
              <a:t>mer</a:t>
            </a:r>
            <a:r>
              <a:rPr lang="en-US" dirty="0"/>
              <a:t> </a:t>
            </a:r>
            <a:r>
              <a:rPr lang="en-US" dirty="0" err="1"/>
              <a:t>strøm</a:t>
            </a:r>
            <a:r>
              <a:rPr lang="en-US" dirty="0"/>
              <a:t> </a:t>
            </a:r>
            <a:r>
              <a:rPr lang="en-US" dirty="0" err="1"/>
              <a:t>og</a:t>
            </a:r>
            <a:r>
              <a:rPr lang="en-US" dirty="0"/>
              <a:t> </a:t>
            </a:r>
            <a:r>
              <a:rPr lang="en-US" dirty="0" err="1"/>
              <a:t>større</a:t>
            </a:r>
            <a:r>
              <a:rPr lang="en-US" dirty="0"/>
              <a:t> </a:t>
            </a:r>
            <a:r>
              <a:rPr lang="en-US" dirty="0" err="1"/>
              <a:t>fysisk</a:t>
            </a:r>
            <a:r>
              <a:rPr lang="en-US" dirty="0"/>
              <a:t> sensor</a:t>
            </a:r>
          </a:p>
          <a:p>
            <a:r>
              <a:rPr lang="en-US" dirty="0"/>
              <a:t>Reagerer </a:t>
            </a:r>
            <a:r>
              <a:rPr lang="en-US" dirty="0" err="1"/>
              <a:t>kun</a:t>
            </a:r>
            <a:r>
              <a:rPr lang="en-US" dirty="0"/>
              <a:t> </a:t>
            </a:r>
            <a:r>
              <a:rPr lang="en-US" dirty="0" err="1"/>
              <a:t>på</a:t>
            </a:r>
            <a:r>
              <a:rPr lang="en-US" dirty="0"/>
              <a:t> CO₂, </a:t>
            </a:r>
            <a:r>
              <a:rPr lang="en-US" dirty="0" err="1"/>
              <a:t>ikke</a:t>
            </a:r>
            <a:r>
              <a:rPr lang="en-US" dirty="0"/>
              <a:t> </a:t>
            </a:r>
            <a:r>
              <a:rPr lang="en-US" dirty="0" err="1"/>
              <a:t>andre</a:t>
            </a:r>
            <a:r>
              <a:rPr lang="en-US" dirty="0"/>
              <a:t> gasser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479762B1-CA39-8B83-A258-96506D3AB2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>
            <a:normAutofit lnSpcReduction="10000"/>
          </a:bodyPr>
          <a:lstStyle/>
          <a:p>
            <a:r>
              <a:rPr lang="nb-NO" dirty="0"/>
              <a:t>Måler ikke CO₂ direkte</a:t>
            </a:r>
          </a:p>
          <a:p>
            <a:r>
              <a:rPr lang="nb-NO" dirty="0"/>
              <a:t>Bruker VOC-sensor (som ENS160 eller SGP30)</a:t>
            </a:r>
          </a:p>
          <a:p>
            <a:r>
              <a:rPr lang="nb-NO" dirty="0"/>
              <a:t>Beregner CO₂-ekvivalent basert på organiske gasser fra mennesker og omgivelser</a:t>
            </a:r>
          </a:p>
          <a:p>
            <a:r>
              <a:rPr lang="nb-NO" dirty="0"/>
              <a:t>Gir indikasjon på luftkvalitet, ikke eksakt CO₂-nivå</a:t>
            </a:r>
          </a:p>
          <a:p>
            <a:r>
              <a:rPr lang="nb-NO" dirty="0"/>
              <a:t>Billigere og enklere, men påvirkes av parfyme, matlukt, rengjøring osv.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20DBA-18B9-5935-D72B-03EF9431DB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20.10.2025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066723-459E-67E1-3FEE-C69391D5C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26330D-3C87-FE27-4E87-4BC6D0A25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414253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562A3-09CA-F58F-A7F9-DA44C4FC8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Oppstart og oppvarmingstid / kalibrering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DC8FC-1B20-C690-4BAA-6E24CFF5A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nb-NO" dirty="0"/>
              <a:t>Når sensoren får strøm, må interne kretsløp og varmeelementer stabilisere seg</a:t>
            </a:r>
          </a:p>
          <a:p>
            <a:r>
              <a:rPr lang="nb-NO" dirty="0"/>
              <a:t>Under oppstart gir sensoren ofte ugyldige eller ustabile verdier</a:t>
            </a:r>
          </a:p>
          <a:p>
            <a:r>
              <a:rPr lang="nb-NO" dirty="0"/>
              <a:t>Typisk oppstartstid: 10–30 sekunder før første gyldige måling</a:t>
            </a:r>
          </a:p>
          <a:p>
            <a:r>
              <a:rPr lang="nb-NO" dirty="0"/>
              <a:t>Metall-oksid-sensorer (MOX) må varmes opp for at kjemiske reaksjoner skal skje riktig</a:t>
            </a:r>
          </a:p>
          <a:p>
            <a:r>
              <a:rPr lang="nb-NO" dirty="0"/>
              <a:t>Sensoren justerer seg til normal luft over tid</a:t>
            </a:r>
          </a:p>
          <a:p>
            <a:pPr lvl="1"/>
            <a:r>
              <a:rPr lang="nb-NO" dirty="0"/>
              <a:t>Denne prosessen kalles “baseline </a:t>
            </a:r>
            <a:r>
              <a:rPr lang="nb-NO" dirty="0" err="1"/>
              <a:t>learning</a:t>
            </a:r>
            <a:r>
              <a:rPr lang="nb-NO" dirty="0"/>
              <a:t>”</a:t>
            </a:r>
          </a:p>
          <a:p>
            <a:pPr lvl="1"/>
            <a:r>
              <a:rPr lang="nb-NO" dirty="0"/>
              <a:t>Tar ofte 24–48 timer med kontinuerlig drift ved god luft</a:t>
            </a:r>
          </a:p>
          <a:p>
            <a:pPr lvl="1"/>
            <a:r>
              <a:rPr lang="nb-NO" dirty="0"/>
              <a:t>Kalibreringen sikrer at senere endringer tolkes som reelle variasjoner</a:t>
            </a:r>
          </a:p>
          <a:p>
            <a:pPr lvl="1"/>
            <a:r>
              <a:rPr lang="nb-NO" dirty="0"/>
              <a:t>Viktig for nøyaktighet: ikke bruk sensoren i sterkt forurenset miljø under denne fasen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256A23-37A6-8724-9332-147BB14D9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20.10.2025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2EDD0-2AB8-76E5-BE07-76017FA44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6562F4-E1AC-1B32-B591-7B9869848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9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84906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67524-7A27-2D8D-BC46-C43B8BCED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2600" dirty="0"/>
              <a:t>ENS160-biblioteket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3531B-F9C0-EF6D-2524-2523C60C51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nb-NO" dirty="0"/>
              <a:t>ENS160 kommuniserer via I²C </a:t>
            </a:r>
          </a:p>
          <a:p>
            <a:pPr>
              <a:lnSpc>
                <a:spcPct val="90000"/>
              </a:lnSpc>
            </a:pPr>
            <a:r>
              <a:rPr lang="nb-NO" dirty="0" err="1"/>
              <a:t>SparkFun</a:t>
            </a:r>
            <a:r>
              <a:rPr lang="nb-NO" dirty="0"/>
              <a:t> tilbyr eget bibliotek:</a:t>
            </a:r>
            <a:br>
              <a:rPr lang="nb-NO" dirty="0"/>
            </a:br>
            <a:r>
              <a:rPr lang="nb-NO" dirty="0"/>
              <a:t>#include &lt;SparkFun_ENS160.h&gt;</a:t>
            </a:r>
          </a:p>
          <a:p>
            <a:pPr>
              <a:lnSpc>
                <a:spcPct val="90000"/>
              </a:lnSpc>
            </a:pPr>
            <a:r>
              <a:rPr lang="nb-NO" dirty="0"/>
              <a:t>Biblioteket håndterer:</a:t>
            </a:r>
          </a:p>
          <a:p>
            <a:pPr lvl="1">
              <a:lnSpc>
                <a:spcPct val="90000"/>
              </a:lnSpc>
            </a:pPr>
            <a:r>
              <a:rPr lang="nb-NO" sz="2000" dirty="0"/>
              <a:t>Initiering av sensor</a:t>
            </a:r>
          </a:p>
          <a:p>
            <a:pPr lvl="1">
              <a:lnSpc>
                <a:spcPct val="90000"/>
              </a:lnSpc>
            </a:pPr>
            <a:r>
              <a:rPr lang="nb-NO" sz="2000" dirty="0"/>
              <a:t>Lesing av måledata</a:t>
            </a:r>
          </a:p>
          <a:p>
            <a:pPr lvl="1">
              <a:lnSpc>
                <a:spcPct val="90000"/>
              </a:lnSpc>
            </a:pPr>
            <a:r>
              <a:rPr lang="nb-NO" sz="2000" dirty="0"/>
              <a:t>Kalibrering og kompensasjon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CD6C55-57E6-6926-E17D-3E80072CDB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6762" y="1200151"/>
            <a:ext cx="3521475" cy="3394472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1F6FD-02D6-2E5E-56C8-59A7E94BAD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20.10.2025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9C00F-D31F-B0C2-05AB-D92B04612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B3CFE-6195-1FAF-B5FF-E01D5F35A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nb-NO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09A167-7031-59C7-2D0F-C118D37A5C15}"/>
              </a:ext>
            </a:extLst>
          </p:cNvPr>
          <p:cNvCxnSpPr/>
          <p:nvPr/>
        </p:nvCxnSpPr>
        <p:spPr>
          <a:xfrm>
            <a:off x="5765470" y="3544784"/>
            <a:ext cx="1318161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0866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5A411-92F2-A431-9A56-2495F1C75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Oppstart av sensoren i </a:t>
            </a:r>
            <a:r>
              <a:rPr lang="nb-NO" dirty="0" err="1"/>
              <a:t>Arduino</a:t>
            </a:r>
            <a:r>
              <a:rPr lang="nb-NO" dirty="0"/>
              <a:t>-kode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8F4AC-5DBD-7023-159A-BDB991B1D0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nb-NO" dirty="0"/>
              <a:t>#include &lt;</a:t>
            </a:r>
            <a:r>
              <a:rPr lang="nb-NO" dirty="0" err="1"/>
              <a:t>Wire.h</a:t>
            </a:r>
            <a:r>
              <a:rPr lang="nb-NO" dirty="0"/>
              <a:t>&gt;</a:t>
            </a:r>
          </a:p>
          <a:p>
            <a:pPr marL="0" indent="0">
              <a:buNone/>
            </a:pPr>
            <a:r>
              <a:rPr lang="nb-NO" dirty="0"/>
              <a:t>#include "SparkFun_ENS160.h"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SparkFun_ENS160 </a:t>
            </a:r>
            <a:r>
              <a:rPr lang="nb-NO" dirty="0" err="1"/>
              <a:t>mySensor</a:t>
            </a:r>
            <a:r>
              <a:rPr lang="nb-NO" dirty="0"/>
              <a:t>;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 err="1"/>
              <a:t>void</a:t>
            </a:r>
            <a:r>
              <a:rPr lang="nb-NO" dirty="0"/>
              <a:t> </a:t>
            </a:r>
            <a:r>
              <a:rPr lang="nb-NO" dirty="0" err="1"/>
              <a:t>setup</a:t>
            </a:r>
            <a:r>
              <a:rPr lang="nb-NO" dirty="0"/>
              <a:t>() {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Serial.begin</a:t>
            </a:r>
            <a:r>
              <a:rPr lang="nb-NO" dirty="0"/>
              <a:t>(115200);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Wire.begin</a:t>
            </a:r>
            <a:r>
              <a:rPr lang="nb-NO" dirty="0"/>
              <a:t>();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if</a:t>
            </a:r>
            <a:r>
              <a:rPr lang="nb-NO" dirty="0"/>
              <a:t> (!</a:t>
            </a:r>
            <a:r>
              <a:rPr lang="nb-NO" dirty="0" err="1"/>
              <a:t>mySensor.begin</a:t>
            </a:r>
            <a:r>
              <a:rPr lang="nb-NO" dirty="0"/>
              <a:t>()) {</a:t>
            </a:r>
          </a:p>
          <a:p>
            <a:pPr marL="0" indent="0">
              <a:buNone/>
            </a:pPr>
            <a:r>
              <a:rPr lang="nb-NO" dirty="0"/>
              <a:t>    </a:t>
            </a:r>
            <a:r>
              <a:rPr lang="nb-NO" dirty="0" err="1"/>
              <a:t>Serial.println</a:t>
            </a:r>
            <a:r>
              <a:rPr lang="nb-NO" dirty="0"/>
              <a:t>("ENS160 ikke funnet – sjekk kobling!");</a:t>
            </a:r>
          </a:p>
          <a:p>
            <a:pPr marL="0" indent="0">
              <a:buNone/>
            </a:pPr>
            <a:r>
              <a:rPr lang="nb-NO" dirty="0"/>
              <a:t>    </a:t>
            </a:r>
            <a:r>
              <a:rPr lang="nb-NO" dirty="0" err="1"/>
              <a:t>while</a:t>
            </a:r>
            <a:r>
              <a:rPr lang="nb-NO" dirty="0"/>
              <a:t> (1);</a:t>
            </a:r>
          </a:p>
          <a:p>
            <a:pPr marL="0" indent="0">
              <a:buNone/>
            </a:pPr>
            <a:r>
              <a:rPr lang="nb-NO" dirty="0"/>
              <a:t>  }</a:t>
            </a:r>
          </a:p>
          <a:p>
            <a:pPr marL="0" indent="0">
              <a:buNone/>
            </a:pPr>
            <a:r>
              <a:rPr lang="nb-NO" dirty="0"/>
              <a:t>  </a:t>
            </a:r>
            <a:r>
              <a:rPr lang="nb-NO" dirty="0" err="1"/>
              <a:t>Serial.println</a:t>
            </a:r>
            <a:r>
              <a:rPr lang="nb-NO" dirty="0"/>
              <a:t>("Sensor klar!");</a:t>
            </a:r>
          </a:p>
          <a:p>
            <a:pPr marL="0" indent="0">
              <a:buNone/>
            </a:pPr>
            <a:r>
              <a:rPr lang="nb-NO" dirty="0"/>
              <a:t>}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BB8E58-ACD6-5E8B-BC70-A54E1E943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20.10.2025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16FD8-01BB-574F-16E1-4DF3E5069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34255-FADA-1617-1A6E-93CE2DD3A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11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92091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5A2DE-1165-2C92-C6D4-AC5D9D3A3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707BC-EF8A-62E1-4182-647D5B3470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b-NO" dirty="0"/>
              <a:t>//Starter målinger</a:t>
            </a:r>
          </a:p>
          <a:p>
            <a:pPr marL="0" indent="0">
              <a:buNone/>
            </a:pPr>
            <a:r>
              <a:rPr lang="nb-NO" dirty="0" err="1"/>
              <a:t>mySensor.measure</a:t>
            </a:r>
            <a:r>
              <a:rPr lang="nb-NO" dirty="0"/>
              <a:t>(true);</a:t>
            </a:r>
          </a:p>
          <a:p>
            <a:pPr marL="0" indent="0">
              <a:buNone/>
            </a:pPr>
            <a:endParaRPr lang="nb-NO" dirty="0"/>
          </a:p>
          <a:p>
            <a:pPr marL="0" indent="0">
              <a:buNone/>
            </a:pPr>
            <a:r>
              <a:rPr lang="nb-NO" dirty="0" err="1"/>
              <a:t>int</a:t>
            </a:r>
            <a:r>
              <a:rPr lang="nb-NO" dirty="0"/>
              <a:t> AQI = </a:t>
            </a:r>
            <a:r>
              <a:rPr lang="nb-NO" dirty="0" err="1"/>
              <a:t>mySensor.getAQI</a:t>
            </a:r>
            <a:r>
              <a:rPr lang="nb-NO" dirty="0"/>
              <a:t>();</a:t>
            </a:r>
          </a:p>
          <a:p>
            <a:pPr marL="0" indent="0">
              <a:buNone/>
            </a:pPr>
            <a:r>
              <a:rPr lang="nb-NO" dirty="0" err="1"/>
              <a:t>int</a:t>
            </a:r>
            <a:r>
              <a:rPr lang="nb-NO" dirty="0"/>
              <a:t> TVOC = </a:t>
            </a:r>
            <a:r>
              <a:rPr lang="nb-NO" dirty="0" err="1"/>
              <a:t>mySensor.getTVOC</a:t>
            </a:r>
            <a:r>
              <a:rPr lang="nb-NO" dirty="0"/>
              <a:t>();</a:t>
            </a:r>
          </a:p>
          <a:p>
            <a:pPr marL="0" indent="0">
              <a:buNone/>
            </a:pPr>
            <a:r>
              <a:rPr lang="nb-NO" dirty="0" err="1"/>
              <a:t>int</a:t>
            </a:r>
            <a:r>
              <a:rPr lang="nb-NO" dirty="0"/>
              <a:t> eCO2 = mySensor.getECO2();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9B1C3-2AF1-E7D2-B31F-B93D9DD12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20.10.2025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6C7B3-1970-DF54-7D4F-6ED605C9E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7AF6A-20AC-01DA-2611-B05D6FD09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12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85554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637C8-07AD-94C9-1AC5-B83CAE7EC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Hvor ofte bør man lese sensoren?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75C93-39B5-B768-4735-7C0979328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Sensoren oppdaterer internt med lav frekvens (~1 Hz)</a:t>
            </a:r>
          </a:p>
          <a:p>
            <a:r>
              <a:rPr lang="nb-NO" dirty="0"/>
              <a:t>For hyppige kall til </a:t>
            </a:r>
            <a:r>
              <a:rPr lang="nb-NO" dirty="0" err="1"/>
              <a:t>measure</a:t>
            </a:r>
            <a:r>
              <a:rPr lang="nb-NO" dirty="0"/>
              <a:t>(true) kan gi repeterte verdier</a:t>
            </a:r>
          </a:p>
          <a:p>
            <a:r>
              <a:rPr lang="nb-NO" dirty="0"/>
              <a:t>Typisk anbefaling:</a:t>
            </a:r>
          </a:p>
          <a:p>
            <a:pPr lvl="1"/>
            <a:r>
              <a:rPr lang="nb-NO" dirty="0"/>
              <a:t>Måling hvert sekund er tilstrekkelig</a:t>
            </a:r>
          </a:p>
          <a:p>
            <a:pPr lvl="1"/>
            <a:r>
              <a:rPr lang="nb-NO" dirty="0"/>
              <a:t>Bruk gjennomsnittsverdier om du logger data over tid</a:t>
            </a:r>
          </a:p>
          <a:p>
            <a:pPr lvl="1"/>
            <a:r>
              <a:rPr lang="nb-NO" dirty="0"/>
              <a:t>La sensoren stå stabilt i minst 30 sekunder etter oppstart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EF505-9F9D-45C8-14A2-8DC9468F6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20.10.2025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8C1B5-A45C-17CC-4A40-A99FC6A33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9592A-542B-2E47-320E-4802AA05A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13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169978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F8823-4DFA-B2DB-6BC8-82F069DCB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Tips til løsning av oppgave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895D9-FACA-8E8A-A7DA-748584B3F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nb-NO" dirty="0"/>
              <a:t>Forberedelse</a:t>
            </a:r>
          </a:p>
          <a:p>
            <a:pPr marL="857250" lvl="1" indent="-457200">
              <a:buFont typeface="+mj-lt"/>
              <a:buAutoNum type="arabicPeriod"/>
            </a:pPr>
            <a:r>
              <a:rPr lang="nb-NO" dirty="0"/>
              <a:t>Finn datablad</a:t>
            </a:r>
          </a:p>
          <a:p>
            <a:pPr marL="1257300" lvl="2" indent="-457200">
              <a:buFont typeface="+mj-lt"/>
              <a:buAutoNum type="arabicPeriod"/>
            </a:pPr>
            <a:r>
              <a:rPr lang="nb-NO" dirty="0" err="1"/>
              <a:t>SparkFun</a:t>
            </a:r>
            <a:r>
              <a:rPr lang="nb-NO" dirty="0"/>
              <a:t> ENS160</a:t>
            </a:r>
          </a:p>
          <a:p>
            <a:pPr marL="1257300" lvl="2" indent="-457200">
              <a:buFont typeface="+mj-lt"/>
              <a:buAutoNum type="arabicPeriod"/>
            </a:pPr>
            <a:r>
              <a:rPr lang="nb-NO" dirty="0" err="1"/>
              <a:t>SparkFun</a:t>
            </a:r>
            <a:r>
              <a:rPr lang="nb-NO" dirty="0"/>
              <a:t> BME280</a:t>
            </a:r>
          </a:p>
          <a:p>
            <a:pPr marL="1257300" lvl="2" indent="-457200">
              <a:buFont typeface="+mj-lt"/>
              <a:buAutoNum type="arabicPeriod"/>
            </a:pPr>
            <a:r>
              <a:rPr lang="nb-NO" dirty="0"/>
              <a:t>Ukjent OLED bme12864-11 </a:t>
            </a:r>
          </a:p>
          <a:p>
            <a:pPr marL="857250" lvl="1" indent="-457200">
              <a:buFont typeface="+mj-lt"/>
              <a:buAutoNum type="arabicPeriod"/>
            </a:pPr>
            <a:r>
              <a:rPr lang="nb-NO" dirty="0"/>
              <a:t>Vurder </a:t>
            </a:r>
          </a:p>
          <a:p>
            <a:pPr marL="1257300" lvl="2" indent="-457200">
              <a:buFont typeface="+mj-lt"/>
              <a:buAutoNum type="arabicPeriod"/>
            </a:pPr>
            <a:r>
              <a:rPr lang="nb-NO" dirty="0"/>
              <a:t>totale strømforbruk</a:t>
            </a:r>
          </a:p>
          <a:p>
            <a:pPr marL="1257300" lvl="2" indent="-457200">
              <a:buFont typeface="+mj-lt"/>
              <a:buAutoNum type="arabicPeriod"/>
            </a:pPr>
            <a:r>
              <a:rPr lang="nb-NO" dirty="0"/>
              <a:t>3,3 eller 5 volt?</a:t>
            </a:r>
          </a:p>
          <a:p>
            <a:pPr marL="857250" lvl="1" indent="-457200">
              <a:buFont typeface="+mj-lt"/>
              <a:buAutoNum type="arabicPeriod"/>
            </a:pPr>
            <a:r>
              <a:rPr lang="nb-NO" dirty="0"/>
              <a:t>Finn og installer bibliotek</a:t>
            </a:r>
          </a:p>
          <a:p>
            <a:pPr marL="857250" lvl="1" indent="-457200">
              <a:buFont typeface="+mj-lt"/>
              <a:buAutoNum type="arabicPeriod"/>
            </a:pPr>
            <a:r>
              <a:rPr lang="nb-NO" dirty="0"/>
              <a:t>Gå igjennom eksemplene til biblioteket</a:t>
            </a:r>
          </a:p>
          <a:p>
            <a:pPr marL="457200" indent="-457200">
              <a:buFont typeface="+mj-lt"/>
              <a:buAutoNum type="arabicPeriod"/>
            </a:pPr>
            <a:r>
              <a:rPr lang="nb-NO" dirty="0"/>
              <a:t>Trinnvis implementering</a:t>
            </a:r>
          </a:p>
          <a:p>
            <a:pPr marL="857250" lvl="1" indent="-457200">
              <a:buFont typeface="+mj-lt"/>
              <a:buAutoNum type="arabicPeriod"/>
            </a:pPr>
            <a:r>
              <a:rPr lang="nb-NO" dirty="0"/>
              <a:t>Koble opp og test hver komponent individuelt</a:t>
            </a:r>
          </a:p>
          <a:p>
            <a:pPr marL="857250" lvl="1" indent="-457200">
              <a:buFont typeface="+mj-lt"/>
              <a:buAutoNum type="arabicPeriod"/>
            </a:pPr>
            <a:r>
              <a:rPr lang="nb-NO" dirty="0"/>
              <a:t>Del opp koden i funksjoner med beskrivende navn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5922B-037B-6638-650B-6A0B180D5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20.10.2025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93356E-5A2D-5C89-E345-50C1FA270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E1244-2C6B-2E33-63DC-4701399F6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14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018789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3B83BBA3-4CC3-07F2-F177-03F998922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5104"/>
            <a:ext cx="8229600" cy="454527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0C8236C-19D7-55D8-3B92-52A1D3B942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39447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7F51488B-B365-CBC5-59CC-00E56F07FE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44AB339-F0E1-A746-A0DD-B8B314440945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20.10.2025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8AD84D7A-26B5-9155-BABF-9C5583DCA6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9955C4AC-F141-B3A7-D98E-DFFF8F9D4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15</a:t>
            </a:fld>
            <a:endParaRPr lang="nb-NO"/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2DCA8B85-B7E8-2BCC-8D01-CDBAC85DEFB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182"/>
          <a:stretch>
            <a:fillRect/>
          </a:stretch>
        </p:blipFill>
        <p:spPr>
          <a:xfrm>
            <a:off x="1761733" y="566457"/>
            <a:ext cx="4935843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66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8B6F3-B9ED-4D5C-13B3-D4D47399D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Lag en smart måler for inneklima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1ED4F-46D1-18F6-B6E4-CB9762E50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nb-NO" dirty="0"/>
              <a:t>På et kontor har ansatte begynt å klage over tung luft og hodepine utover dagen.  Lederen ønsker en enkel og rimelig løsning som kan overvåke luftkvalitet, temperatur og luftfuktighet i sanntid.</a:t>
            </a:r>
          </a:p>
          <a:p>
            <a:pPr marL="0" indent="0">
              <a:buNone/>
            </a:pPr>
            <a:r>
              <a:rPr lang="nb-NO" dirty="0"/>
              <a:t>Du skal utvikle en smart inneklimamåler som:</a:t>
            </a:r>
          </a:p>
          <a:p>
            <a:r>
              <a:rPr lang="nb-NO" dirty="0"/>
              <a:t>Måler </a:t>
            </a:r>
          </a:p>
          <a:p>
            <a:pPr lvl="1"/>
            <a:r>
              <a:rPr lang="nb-NO" dirty="0"/>
              <a:t>luftkvalitet</a:t>
            </a:r>
          </a:p>
          <a:p>
            <a:pPr lvl="1"/>
            <a:r>
              <a:rPr lang="nb-NO" dirty="0"/>
              <a:t>temperatur og </a:t>
            </a:r>
          </a:p>
          <a:p>
            <a:pPr lvl="1"/>
            <a:r>
              <a:rPr lang="nb-NO" dirty="0"/>
              <a:t>luftfuktighet</a:t>
            </a:r>
          </a:p>
          <a:p>
            <a:r>
              <a:rPr lang="nb-NO" dirty="0"/>
              <a:t>Viser data på OLED-skjerm</a:t>
            </a:r>
          </a:p>
          <a:p>
            <a:r>
              <a:rPr lang="nb-NO" dirty="0"/>
              <a:t>Varsler når luftkvaliteten blir dårlig (f.eks. AQI ≥ 4)</a:t>
            </a:r>
          </a:p>
          <a:p>
            <a:r>
              <a:rPr lang="nb-NO" dirty="0"/>
              <a:t>Utfordring (valgfritt): Utvid systemet slik at:</a:t>
            </a:r>
          </a:p>
          <a:p>
            <a:pPr lvl="1"/>
            <a:r>
              <a:rPr lang="nb-NO" dirty="0"/>
              <a:t>Symboler på skjermen endrer seg etter luftkvalitet</a:t>
            </a:r>
          </a:p>
          <a:p>
            <a:pPr lvl="1"/>
            <a:r>
              <a:rPr lang="nb-NO" dirty="0"/>
              <a:t>Systemet foreslår “luft ut!”, «slå på varme» </a:t>
            </a:r>
            <a:r>
              <a:rPr lang="nb-NO" dirty="0" err="1"/>
              <a:t>etc</a:t>
            </a:r>
            <a:r>
              <a:rPr lang="nb-NO" dirty="0"/>
              <a:t> når verdiene er dårlige</a:t>
            </a:r>
          </a:p>
          <a:p>
            <a:pPr lvl="1"/>
            <a:r>
              <a:rPr lang="nb-NO" dirty="0"/>
              <a:t>Legg til LED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437E1-B858-9FDA-4F6F-EAE908665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D97299-2ACC-2246-9998-AAC0BBB7B871}" type="datetime1">
              <a:rPr lang="nb-NO" smtClean="0"/>
              <a:t>20.10.2025</a:t>
            </a:fld>
            <a:endParaRPr lang="nb-N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26A62-1BA3-34C4-2F62-D48AE97E0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A9B70-66A7-A28C-7399-3A74C3BD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ECCE09-4EB9-D24E-99A2-F5BDA1BD657E}" type="slidenum">
              <a:rPr lang="nb-NO" smtClean="0"/>
              <a:pPr/>
              <a:t>16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55672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BB214DF-329C-11DE-55D1-845F2A6FAD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053" y="1203159"/>
            <a:ext cx="8412748" cy="1784684"/>
          </a:xfrm>
        </p:spPr>
        <p:txBody>
          <a:bodyPr anchor="b">
            <a:normAutofit/>
          </a:bodyPr>
          <a:lstStyle/>
          <a:p>
            <a:r>
              <a:rPr lang="nb-NO" dirty="0"/>
              <a:t>Ingen forelesning torsdag 23. oktober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4A51616A-506A-2368-727E-4C18015496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97576" y="4768684"/>
            <a:ext cx="1684420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9D97299-2ACC-2246-9998-AAC0BBB7B871}" type="datetime1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20.10.2025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0600141F-494E-F747-A39B-95107B006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6835" y="4767263"/>
            <a:ext cx="5926221" cy="273844"/>
          </a:xfrm>
        </p:spPr>
        <p:txBody>
          <a:bodyPr anchor="ctr">
            <a:normAutofit lnSpcReduction="10000"/>
          </a:bodyPr>
          <a:lstStyle/>
          <a:p>
            <a:r>
              <a:rPr lang="nb-NO" dirty="0"/>
              <a:t>Martin Arthur Andersen, Fakultet for informasjonsteknologi, ingeniørfag og økonomi</a:t>
            </a:r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F034DF3A-4777-9F9E-AB12-8660FE4A3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1996" y="4767263"/>
            <a:ext cx="411747" cy="273844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28ECCE09-4EB9-D24E-99A2-F5BDA1BD657E}" type="slidenum">
              <a:rPr lang="nb-NO" smtClean="0"/>
              <a:pPr>
                <a:lnSpc>
                  <a:spcPct val="90000"/>
                </a:lnSpc>
                <a:spcAft>
                  <a:spcPts val="600"/>
                </a:spcAft>
              </a:pPr>
              <a:t>17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09267807"/>
      </p:ext>
    </p:extLst>
  </p:cSld>
  <p:clrMapOvr>
    <a:masterClrMapping/>
  </p:clrMapOvr>
</p:sld>
</file>

<file path=ppt/theme/theme1.xml><?xml version="1.0" encoding="utf-8"?>
<a:theme xmlns:a="http://schemas.openxmlformats.org/drawingml/2006/main" name="HIOF-template-7.13.Presentasjonsmal-NOR-v.0.0.3">
  <a:themeElements>
    <a:clrScheme name="HIOF-palett">
      <a:dk1>
        <a:srgbClr val="101820"/>
      </a:dk1>
      <a:lt1>
        <a:srgbClr val="101820"/>
      </a:lt1>
      <a:dk2>
        <a:srgbClr val="EDEBE9"/>
      </a:dk2>
      <a:lt2>
        <a:srgbClr val="FFFFFF"/>
      </a:lt2>
      <a:accent1>
        <a:srgbClr val="3CBFAE"/>
      </a:accent1>
      <a:accent2>
        <a:srgbClr val="C76D62"/>
      </a:accent2>
      <a:accent3>
        <a:srgbClr val="457A7C"/>
      </a:accent3>
      <a:accent4>
        <a:srgbClr val="D7D2CB"/>
      </a:accent4>
      <a:accent5>
        <a:srgbClr val="978794"/>
      </a:accent5>
      <a:accent6>
        <a:srgbClr val="C0B8B0"/>
      </a:accent6>
      <a:hlink>
        <a:srgbClr val="457A7C"/>
      </a:hlink>
      <a:folHlink>
        <a:srgbClr val="3CBFAE"/>
      </a:folHlink>
    </a:clrScheme>
    <a:fontScheme name="Office klassisk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44559a2-a91c-4b3d-9b02-34bf4e41e8d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883180C750DED49832A828A345BD068" ma:contentTypeVersion="16" ma:contentTypeDescription="Opprett et nytt dokument." ma:contentTypeScope="" ma:versionID="0ffaa19da4f66163451a89d5c36b2850">
  <xsd:schema xmlns:xsd="http://www.w3.org/2001/XMLSchema" xmlns:xs="http://www.w3.org/2001/XMLSchema" xmlns:p="http://schemas.microsoft.com/office/2006/metadata/properties" xmlns:ns3="b44559a2-a91c-4b3d-9b02-34bf4e41e8de" xmlns:ns4="46d65abe-389b-4595-a034-c32f88a2f72f" targetNamespace="http://schemas.microsoft.com/office/2006/metadata/properties" ma:root="true" ma:fieldsID="effdf5abe430e858cc173ba807cbedc6" ns3:_="" ns4:_="">
    <xsd:import namespace="b44559a2-a91c-4b3d-9b02-34bf4e41e8de"/>
    <xsd:import namespace="46d65abe-389b-4595-a034-c32f88a2f72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SearchProperties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4559a2-a91c-4b3d-9b02-34bf4e41e8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d65abe-389b-4595-a034-c32f88a2f72f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Hash for deling av tips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D0EBD75-8E1C-48FC-9758-5998BD7A9BD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50A1235-4F99-4957-98A9-279FBCDCAF1B}">
  <ds:schemaRefs>
    <ds:schemaRef ds:uri="http://schemas.microsoft.com/office/2006/documentManagement/types"/>
    <ds:schemaRef ds:uri="http://purl.org/dc/elements/1.1/"/>
    <ds:schemaRef ds:uri="http://purl.org/dc/terms/"/>
    <ds:schemaRef ds:uri="b44559a2-a91c-4b3d-9b02-34bf4e41e8de"/>
    <ds:schemaRef ds:uri="46d65abe-389b-4595-a034-c32f88a2f72f"/>
    <ds:schemaRef ds:uri="http://purl.org/dc/dcmitype/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E1A313DA-7499-44CA-9284-9D5B4533FE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44559a2-a91c-4b3d-9b02-34bf4e41e8de"/>
    <ds:schemaRef ds:uri="46d65abe-389b-4595-a034-c32f88a2f7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3221735-26b9-4eac-ad0f-4721757a50f8}" enabled="0" method="" siteId="{e3221735-26b9-4eac-ad0f-4721757a50f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HIOF-template-7.13.Presentasjonsmal-NOR-v.0.0.3.potx</Template>
  <TotalTime>16582</TotalTime>
  <Words>1285</Words>
  <Application>Microsoft Office PowerPoint</Application>
  <PresentationFormat>Skjermfremvisning (16:9)</PresentationFormat>
  <Paragraphs>206</Paragraphs>
  <Slides>17</Slides>
  <Notes>3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17</vt:i4>
      </vt:variant>
    </vt:vector>
  </HeadingPairs>
  <TitlesOfParts>
    <vt:vector size="21" baseType="lpstr">
      <vt:lpstr>Arial</vt:lpstr>
      <vt:lpstr>Calibri</vt:lpstr>
      <vt:lpstr>Source Sans Pro</vt:lpstr>
      <vt:lpstr>HIOF-template-7.13.Presentasjonsmal-NOR-v.0.0.3</vt:lpstr>
      <vt:lpstr>Introduksjon til miljøsensorer</vt:lpstr>
      <vt:lpstr>Grunnleggende bruk av miljøsensor</vt:lpstr>
      <vt:lpstr>Hva er en gassensor?</vt:lpstr>
      <vt:lpstr>Luftkvalitet AQI – Enkelt forklart</vt:lpstr>
      <vt:lpstr>Prinsippet bak metall-oksid-sensorer</vt:lpstr>
      <vt:lpstr>ENS160 – Sensoren som trenger data</vt:lpstr>
      <vt:lpstr>Hvorfor man bruker BME280 sammen med ENS160</vt:lpstr>
      <vt:lpstr>Forskjellen mellom ekte CO₂-sensor og eCO₂-estimat</vt:lpstr>
      <vt:lpstr>Oppstart og oppvarmingstid / kalibrering</vt:lpstr>
      <vt:lpstr>ENS160-biblioteket</vt:lpstr>
      <vt:lpstr>Oppstart av sensoren i Arduino-kode</vt:lpstr>
      <vt:lpstr>PowerPoint-presentasjon</vt:lpstr>
      <vt:lpstr>Hvor ofte bør man lese sensoren?</vt:lpstr>
      <vt:lpstr>Tips til løsning av oppgave</vt:lpstr>
      <vt:lpstr>PowerPoint-presentasjon</vt:lpstr>
      <vt:lpstr>Lag en smart måler for inneklima</vt:lpstr>
      <vt:lpstr>Ingen forelesning torsdag 23. oktober</vt:lpstr>
    </vt:vector>
  </TitlesOfParts>
  <Manager/>
  <Company>The Pitch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HIOF-template-7.13.Presentasjonsmal</dc:title>
  <dc:subject/>
  <dc:creator>Karine Strand Andresen</dc:creator>
  <cp:keywords/>
  <dc:description/>
  <cp:lastModifiedBy>Martin Arthur Andersen</cp:lastModifiedBy>
  <cp:revision>73</cp:revision>
  <dcterms:created xsi:type="dcterms:W3CDTF">2015-06-11T22:12:29Z</dcterms:created>
  <dcterms:modified xsi:type="dcterms:W3CDTF">2025-10-20T10:10:05Z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0x0101000883180C750DED49832A828A345BD068</vt:lpwstr>
  </property>
  <property fmtid="{D5CDD505-2E9C-101B-9397-08002B2CF9AE}" pid="3" name="MediaServiceImageTags">
    <vt:lpwstr/>
  </property>
</Properties>
</file>
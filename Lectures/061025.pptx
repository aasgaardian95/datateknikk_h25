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4"/>
  </p:sldMasterIdLst>
  <p:notesMasterIdLst>
    <p:notesMasterId r:id="rId15"/>
  </p:notesMasterIdLst>
  <p:handoutMasterIdLst>
    <p:handoutMasterId r:id="rId16"/>
  </p:handoutMasterIdLst>
  <p:sldIdLst>
    <p:sldId id="258" r:id="rId5"/>
    <p:sldId id="260" r:id="rId6"/>
    <p:sldId id="270" r:id="rId7"/>
    <p:sldId id="261" r:id="rId8"/>
    <p:sldId id="262" r:id="rId9"/>
    <p:sldId id="263" r:id="rId10"/>
    <p:sldId id="265" r:id="rId11"/>
    <p:sldId id="266" r:id="rId12"/>
    <p:sldId id="268" r:id="rId13"/>
    <p:sldId id="269" r:id="rId14"/>
  </p:sldIdLst>
  <p:sldSz cx="9144000" cy="5143500" type="screen16x9"/>
  <p:notesSz cx="6858000" cy="9144000"/>
  <p:defaultTextStyle>
    <a:defPPr>
      <a:defRPr lang="nb-N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79" autoAdjust="0"/>
    <p:restoredTop sz="84504" autoAdjust="0"/>
  </p:normalViewPr>
  <p:slideViewPr>
    <p:cSldViewPr snapToGrid="0">
      <p:cViewPr varScale="1">
        <p:scale>
          <a:sx n="107" d="100"/>
          <a:sy n="107" d="100"/>
        </p:scale>
        <p:origin x="1216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15ACB-6D39-BD4E-B219-F3F80F4D5658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53D036-F3E9-EE46-9B35-EC7759C2F5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361545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4867-3A3C-8F4F-AA72-C1B9EB729F72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457E-F630-C147-B67D-734B6B1CD9D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0815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Hei, og velkommen til introduksjon til </a:t>
            </a:r>
            <a:r>
              <a:rPr lang="nb-NO" dirty="0" err="1"/>
              <a:t>Arduino</a:t>
            </a:r>
            <a:r>
              <a:rPr lang="nb-NO" dirty="0"/>
              <a:t>.</a:t>
            </a:r>
            <a:br>
              <a:rPr lang="nb-NO" dirty="0"/>
            </a:br>
            <a:endParaRPr lang="nb-NO" dirty="0"/>
          </a:p>
          <a:p>
            <a:r>
              <a:rPr lang="nb-NO" dirty="0"/>
              <a:t>Jeg kommer til å legge ut presentasjonen på Canvas.</a:t>
            </a:r>
          </a:p>
          <a:p>
            <a:endParaRPr lang="nb-NO" dirty="0"/>
          </a:p>
          <a:p>
            <a:r>
              <a:rPr lang="nb-NO" dirty="0"/>
              <a:t>Tips: Jeg bruker notat-funksjonen sånn at man kan se </a:t>
            </a:r>
            <a:r>
              <a:rPr lang="nb-NO" dirty="0" err="1"/>
              <a:t>ca</a:t>
            </a:r>
            <a:r>
              <a:rPr lang="nb-NO" dirty="0"/>
              <a:t> hva jeg sa på hver slide (og for å huske hva jeg skal si).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57E-F630-C147-B67D-734B6B1CD9DE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1860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02.10.2025</a:t>
            </a:fld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3852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44AB339-F0E1-A746-A0DD-B8B314440945}" type="datetime1">
              <a:rPr lang="nb-NO" smtClean="0"/>
              <a:t>02.10.2025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3091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590699-1352-D148-B251-D7C28FB0B6CC}" type="datetime1">
              <a:rPr lang="nb-NO" smtClean="0"/>
              <a:t>02.10.2025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34894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1FF5EF9-C484-D748-964B-06FC147FE0F7}" type="datetime1">
              <a:rPr lang="nb-NO" smtClean="0"/>
              <a:t>02.10.2025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8194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EE9DC53-2898-304E-8D88-1BB22CAC7760}" type="datetime1">
              <a:rPr lang="nb-NO" smtClean="0"/>
              <a:t>02.10.2025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634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telside 1-Hexag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2000"/>
            <a:ext cx="6075947" cy="1998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/>
            </a:lvl1pPr>
          </a:lstStyle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3439050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8" name="Plassholder for dato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46D0C-2F8A-B642-A138-BA59C775D20D}" type="datetime1">
              <a:rPr lang="nb-NO" smtClean="0"/>
              <a:t>02.10.2025</a:t>
            </a:fld>
            <a:endParaRPr lang="nb-NO"/>
          </a:p>
        </p:txBody>
      </p:sp>
      <p:sp>
        <p:nvSpPr>
          <p:cNvPr id="9" name="Plassholder for bunntekst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0" name="Plassholder for lysbilde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87898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675105"/>
            <a:ext cx="4040188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645026" y="675105"/>
            <a:ext cx="4041775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204A-9A75-3C4C-BAD0-3FE6FE661701}" type="datetime1">
              <a:rPr lang="nb-NO" smtClean="0"/>
              <a:t>02.10.2025</a:t>
            </a:fld>
            <a:endParaRPr lang="nb-NO"/>
          </a:p>
        </p:txBody>
      </p:sp>
      <p:sp>
        <p:nvSpPr>
          <p:cNvPr id="10" name="Plassholder for bunn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1" name="Plassholder for lysbilde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459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6" name="Plassholder for dato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2955-BE7A-5C4C-84B8-41580681C190}" type="datetime1">
              <a:rPr lang="nb-NO" smtClean="0"/>
              <a:t>02.10.2025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354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7B6-EDFB-B447-8B14-79CCE6E543ED}" type="datetime1">
              <a:rPr lang="nb-NO" smtClean="0"/>
              <a:t>02.10.2025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044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2"/>
          <p:cNvSpPr>
            <a:spLocks noGrp="1"/>
          </p:cNvSpPr>
          <p:nvPr>
            <p:ph type="pic" idx="1" hasCustomPrompt="1"/>
          </p:nvPr>
        </p:nvSpPr>
        <p:spPr>
          <a:xfrm>
            <a:off x="0" y="100262"/>
            <a:ext cx="9144000" cy="4485105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her for å sette inn bilde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2B3D7-CAAD-CD4A-9ADE-B7023038E292}" type="datetime1">
              <a:rPr lang="nb-NO" smtClean="0"/>
              <a:t>02.10.2025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5745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71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6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6697576" y="4768684"/>
            <a:ext cx="16844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Source Sans Pro"/>
              </a:defRPr>
            </a:lvl1pPr>
          </a:lstStyle>
          <a:p>
            <a:fld id="{301028B7-40B6-B141-A86D-F90DE572F70B}" type="datetime1">
              <a:rPr lang="nb-NO" smtClean="0"/>
              <a:t>02.10.2025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316835" y="4767263"/>
            <a:ext cx="592622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381996" y="4767263"/>
            <a:ext cx="41174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7" name="Bilde 6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  <p:pic>
        <p:nvPicPr>
          <p:cNvPr id="8" name="Bilde 7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29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kern="1200" baseline="0">
          <a:solidFill>
            <a:schemeClr val="tx1"/>
          </a:solidFill>
          <a:latin typeface="Source Sans Pro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400" kern="1200">
          <a:solidFill>
            <a:schemeClr val="tx1"/>
          </a:solidFill>
          <a:latin typeface="Source Sans Pro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000" kern="1200">
          <a:solidFill>
            <a:schemeClr val="tx1"/>
          </a:solidFill>
          <a:latin typeface="Source Sans Pro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800" kern="1200">
          <a:solidFill>
            <a:schemeClr val="tx1"/>
          </a:solidFill>
          <a:latin typeface="Source Sans Pro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600" kern="1200">
          <a:solidFill>
            <a:schemeClr val="tx1"/>
          </a:solidFill>
          <a:latin typeface="Source Sans Pro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400" kern="1200">
          <a:solidFill>
            <a:schemeClr val="tx1"/>
          </a:solidFill>
          <a:latin typeface="Source Sans Pro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Analog inngang og LDR</a:t>
            </a:r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/>
          <a:lstStyle/>
          <a:p>
            <a:fld id="{CEBE5A08-4597-EE48-8595-2652A3602EC3}" type="datetime1">
              <a:rPr lang="nb-NO" smtClean="0"/>
              <a:t>02.10.2025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/>
          <a:lstStyle/>
          <a:p>
            <a:fld id="{28ECCE09-4EB9-D24E-99A2-F5BDA1BD657E}" type="slidenum">
              <a:rPr lang="nb-NO" smtClean="0"/>
              <a:pPr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09090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E59D3-F5D7-5C1E-C959-E2CB04057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Analog inngang på </a:t>
            </a:r>
            <a:r>
              <a:rPr lang="nb-NO" dirty="0" err="1"/>
              <a:t>Arduino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82544-64BD-B8C2-7FCD-2EC8F366D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 dirty="0"/>
          </a:p>
          <a:p>
            <a:r>
              <a:rPr lang="nb-NO" dirty="0" err="1"/>
              <a:t>Arduino</a:t>
            </a:r>
            <a:r>
              <a:rPr lang="nb-NO" dirty="0"/>
              <a:t> har ADC (Analog–Digital Converter)</a:t>
            </a:r>
            <a:br>
              <a:rPr lang="nb-NO" dirty="0"/>
            </a:br>
            <a:endParaRPr lang="nb-NO" dirty="0"/>
          </a:p>
          <a:p>
            <a:r>
              <a:rPr lang="nb-NO" dirty="0"/>
              <a:t>Konverterer spenning (0–5 V) til et tall (0–1023)</a:t>
            </a:r>
            <a:br>
              <a:rPr lang="nb-NO" dirty="0"/>
            </a:br>
            <a:r>
              <a:rPr lang="nb-NO" dirty="0"/>
              <a:t>V = (</a:t>
            </a:r>
            <a:r>
              <a:rPr lang="nb-NO" dirty="0" err="1"/>
              <a:t>analogRead</a:t>
            </a:r>
            <a:r>
              <a:rPr lang="nb-NO" dirty="0"/>
              <a:t>(pin) / 1023.0) * 5.0;</a:t>
            </a:r>
            <a:br>
              <a:rPr lang="nb-NO" dirty="0"/>
            </a:br>
            <a:r>
              <a:rPr lang="nb-NO" dirty="0"/>
              <a:t>Lys i % = (</a:t>
            </a:r>
            <a:r>
              <a:rPr lang="nb-NO" dirty="0" err="1"/>
              <a:t>analogRead</a:t>
            </a:r>
            <a:r>
              <a:rPr lang="nb-NO" dirty="0"/>
              <a:t>(pin) / 1023.0) * 100.0;</a:t>
            </a:r>
            <a:br>
              <a:rPr lang="nb-NO" dirty="0"/>
            </a:br>
            <a:endParaRPr lang="nb-NO" dirty="0"/>
          </a:p>
          <a:p>
            <a:r>
              <a:rPr lang="nb-NO" dirty="0"/>
              <a:t>Brukes for å lese sensorer som gir varierende spenning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CE9EE-0B64-D84C-931E-CC83178B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02.10.2025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2C68F-BD4D-FA93-6A2A-DB91BF89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D249D-98AA-63F6-41A5-56BE110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3089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31B4C-D452-B088-05ED-91AB5C71DA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Minner om</a:t>
            </a:r>
            <a:br>
              <a:rPr lang="nb-NO" dirty="0"/>
            </a:br>
            <a:r>
              <a:rPr lang="nb-NO" dirty="0"/>
              <a:t>docs.arduino.cc/</a:t>
            </a:r>
            <a:br>
              <a:rPr lang="nb-NO" dirty="0"/>
            </a:br>
            <a:r>
              <a:rPr lang="nb-NO" dirty="0"/>
              <a:t>Les mer der om funksjonene som beskrives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A0FAA7-18D2-1CD2-63FD-859441160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90699-1352-D148-B251-D7C28FB0B6CC}" type="datetime1">
              <a:rPr lang="nb-NO" smtClean="0"/>
              <a:t>02.10.2025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6D4542-8990-22D5-D26A-8E551076D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DC733-7FF9-9CD0-E492-2FCABE827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72498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500C-08E1-F834-98E9-77D02BD15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Spenningsdeler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4578DE4-27D2-D033-3B79-A45E852C14BC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20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18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16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SzPct val="100000"/>
              <a:buFontTx/>
              <a:buBlip>
                <a:blip r:embed="rId2"/>
              </a:buBlip>
              <a:defRPr sz="1400" kern="1200">
                <a:solidFill>
                  <a:schemeClr val="tx1"/>
                </a:solidFill>
                <a:latin typeface="Source Sans Pro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r>
              <a:rPr lang="en-US" sz="2000" dirty="0"/>
              <a:t>To </a:t>
            </a:r>
            <a:r>
              <a:rPr lang="en-US" sz="2000" dirty="0" err="1"/>
              <a:t>motstander</a:t>
            </a:r>
            <a:r>
              <a:rPr lang="en-US" sz="2000" dirty="0"/>
              <a:t> </a:t>
            </a:r>
            <a:r>
              <a:rPr lang="en-US" sz="2000" dirty="0" err="1"/>
              <a:t>deler</a:t>
            </a:r>
            <a:r>
              <a:rPr lang="en-US" sz="2000" dirty="0"/>
              <a:t> </a:t>
            </a:r>
            <a:r>
              <a:rPr lang="en-US" sz="2000" dirty="0" err="1"/>
              <a:t>spenningen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Spenning</a:t>
            </a:r>
            <a:r>
              <a:rPr lang="en-US" sz="2000" dirty="0"/>
              <a:t> </a:t>
            </a:r>
            <a:r>
              <a:rPr lang="en-US" sz="2000" dirty="0" err="1"/>
              <a:t>ut</a:t>
            </a:r>
            <a:r>
              <a:rPr lang="en-US" sz="2000" dirty="0"/>
              <a:t> = (R2 / (R1+R2)) * Vin</a:t>
            </a:r>
          </a:p>
          <a:p>
            <a:endParaRPr lang="en-US" sz="2000" dirty="0"/>
          </a:p>
          <a:p>
            <a:r>
              <a:rPr lang="en-US" sz="2000" dirty="0"/>
              <a:t>LDR </a:t>
            </a:r>
            <a:r>
              <a:rPr lang="en-US" sz="2000" dirty="0" err="1"/>
              <a:t>brukes</a:t>
            </a:r>
            <a:r>
              <a:rPr lang="en-US" sz="2000" dirty="0"/>
              <a:t> </a:t>
            </a:r>
            <a:r>
              <a:rPr lang="en-US" sz="2000" dirty="0" err="1"/>
              <a:t>som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av </a:t>
            </a:r>
            <a:r>
              <a:rPr lang="en-US" sz="2000" dirty="0" err="1"/>
              <a:t>motstandene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→ </a:t>
            </a:r>
            <a:r>
              <a:rPr lang="en-US" sz="2000" dirty="0" err="1"/>
              <a:t>spenningen</a:t>
            </a:r>
            <a:r>
              <a:rPr lang="en-US" sz="2000" dirty="0"/>
              <a:t> </a:t>
            </a:r>
            <a:r>
              <a:rPr lang="en-US" sz="2000" dirty="0" err="1"/>
              <a:t>varierer</a:t>
            </a:r>
            <a:r>
              <a:rPr lang="en-US" sz="2000" dirty="0"/>
              <a:t> med </a:t>
            </a:r>
            <a:r>
              <a:rPr lang="en-US" sz="2000" dirty="0" err="1"/>
              <a:t>lysnivå</a:t>
            </a:r>
            <a:endParaRPr lang="en-US" sz="2000" dirty="0"/>
          </a:p>
        </p:txBody>
      </p:sp>
      <p:pic>
        <p:nvPicPr>
          <p:cNvPr id="8" name="Content Placeholder 7" descr="A diagram of electrical circuits&#10;&#10;AI-generated content may be incorrect.">
            <a:extLst>
              <a:ext uri="{FF2B5EF4-FFF2-40B4-BE49-F238E27FC236}">
                <a16:creationId xmlns:a16="http://schemas.microsoft.com/office/drawing/2014/main" id="{7D5891A6-A1A7-8495-0D1C-A222FFAAE7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18529" r="18121"/>
          <a:stretch>
            <a:fillRect/>
          </a:stretch>
        </p:blipFill>
        <p:spPr>
          <a:xfrm>
            <a:off x="4876165" y="1079544"/>
            <a:ext cx="3917578" cy="2984412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206EC-E15E-F917-96DB-80BD10B470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02.10.2025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BD0F2-6B10-4576-F5E6-C31C1C157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nb-NO" kern="1200">
                <a:latin typeface="Source Sans Pro"/>
                <a:ea typeface="+mn-ea"/>
                <a:cs typeface="+mn-cs"/>
              </a:rPr>
              <a:t>Fornavn Etternavn | Avdelingsnavn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E477E-EDDB-121F-9CB9-444B81C40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0757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FBE4B-5855-17F4-308F-D6F15E57F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LDR (</a:t>
            </a:r>
            <a:r>
              <a:rPr lang="nb-NO" sz="2600" err="1"/>
              <a:t>Light</a:t>
            </a:r>
            <a:r>
              <a:rPr lang="nb-NO" sz="2600"/>
              <a:t> Dependent </a:t>
            </a:r>
            <a:r>
              <a:rPr lang="nb-NO" sz="2600" err="1"/>
              <a:t>Resistor</a:t>
            </a:r>
            <a:r>
              <a:rPr lang="nb-NO" sz="260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6A591-649E-FE3D-B7A0-CB516A981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endParaRPr lang="nb-NO" dirty="0"/>
          </a:p>
          <a:p>
            <a:r>
              <a:rPr lang="nb-NO" dirty="0"/>
              <a:t>Motstanden minker når lys øker</a:t>
            </a:r>
          </a:p>
          <a:p>
            <a:endParaRPr lang="nb-NO" dirty="0"/>
          </a:p>
          <a:p>
            <a:r>
              <a:rPr lang="nb-NO" dirty="0"/>
              <a:t>Høy motstand i mørke → lav spenning ut</a:t>
            </a:r>
          </a:p>
          <a:p>
            <a:endParaRPr lang="nb-NO" dirty="0"/>
          </a:p>
          <a:p>
            <a:r>
              <a:rPr lang="nb-NO" dirty="0"/>
              <a:t>Lav motstand i lys → høy spenning ut</a:t>
            </a:r>
          </a:p>
        </p:txBody>
      </p:sp>
      <p:pic>
        <p:nvPicPr>
          <p:cNvPr id="9" name="Picture 8" descr="A close-up of a device&#10;&#10;AI-generated content may be incorrect.">
            <a:extLst>
              <a:ext uri="{FF2B5EF4-FFF2-40B4-BE49-F238E27FC236}">
                <a16:creationId xmlns:a16="http://schemas.microsoft.com/office/drawing/2014/main" id="{8C113855-6E1A-F130-CCA7-B4086C3C2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382912"/>
            <a:ext cx="4038600" cy="3028950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79E12-4936-6B82-C7F9-2BC3F51499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02.10.2025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E4AEF-5445-D455-F88D-838F82210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nb-NO"/>
              <a:t>Fornavn Etternavn | Avdelingsnavn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19562-1CEF-EB10-A6D2-B90CBB46E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71185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0F281-E51E-048E-110C-01727551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Funksjoner i </a:t>
            </a:r>
            <a:r>
              <a:rPr lang="nb-NO" dirty="0" err="1"/>
              <a:t>Arduino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0132D-BD11-A92F-5355-90DDAC0A3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1"/>
            <a:ext cx="8749553" cy="3394472"/>
          </a:xfrm>
        </p:spPr>
        <p:txBody>
          <a:bodyPr/>
          <a:lstStyle/>
          <a:p>
            <a:endParaRPr lang="nb-NO" dirty="0"/>
          </a:p>
          <a:p>
            <a:r>
              <a:rPr lang="nb-NO" b="1" dirty="0" err="1"/>
              <a:t>analogRead</a:t>
            </a:r>
            <a:r>
              <a:rPr lang="nb-NO" dirty="0"/>
              <a:t>(pin) → gir verdi 0–1023</a:t>
            </a:r>
          </a:p>
          <a:p>
            <a:endParaRPr lang="nb-NO" dirty="0"/>
          </a:p>
          <a:p>
            <a:r>
              <a:rPr lang="nb-NO" b="1" dirty="0" err="1"/>
              <a:t>map</a:t>
            </a:r>
            <a:r>
              <a:rPr lang="nb-NO" dirty="0"/>
              <a:t>(</a:t>
            </a:r>
            <a:r>
              <a:rPr lang="nb-NO" dirty="0" err="1"/>
              <a:t>value</a:t>
            </a:r>
            <a:r>
              <a:rPr lang="nb-NO" dirty="0"/>
              <a:t>, </a:t>
            </a:r>
            <a:r>
              <a:rPr lang="nb-NO" dirty="0" err="1"/>
              <a:t>fromLow</a:t>
            </a:r>
            <a:r>
              <a:rPr lang="nb-NO" dirty="0"/>
              <a:t>, </a:t>
            </a:r>
            <a:r>
              <a:rPr lang="nb-NO" dirty="0" err="1"/>
              <a:t>fromHigh</a:t>
            </a:r>
            <a:r>
              <a:rPr lang="nb-NO" dirty="0"/>
              <a:t>, </a:t>
            </a:r>
            <a:r>
              <a:rPr lang="nb-NO" dirty="0" err="1"/>
              <a:t>toLow</a:t>
            </a:r>
            <a:r>
              <a:rPr lang="nb-NO" dirty="0"/>
              <a:t>, </a:t>
            </a:r>
            <a:r>
              <a:rPr lang="nb-NO" dirty="0" err="1"/>
              <a:t>toHigh</a:t>
            </a:r>
            <a:r>
              <a:rPr lang="nb-NO" dirty="0"/>
              <a:t>) → endrer skala</a:t>
            </a:r>
          </a:p>
          <a:p>
            <a:endParaRPr lang="nb-NO" dirty="0"/>
          </a:p>
          <a:p>
            <a:r>
              <a:rPr lang="nb-NO" b="1" dirty="0" err="1"/>
              <a:t>constrain</a:t>
            </a:r>
            <a:r>
              <a:rPr lang="nb-NO" dirty="0"/>
              <a:t>(</a:t>
            </a:r>
            <a:r>
              <a:rPr lang="nb-NO" dirty="0" err="1"/>
              <a:t>value</a:t>
            </a:r>
            <a:r>
              <a:rPr lang="nb-NO" dirty="0"/>
              <a:t>, min, </a:t>
            </a:r>
            <a:r>
              <a:rPr lang="nb-NO" dirty="0" err="1"/>
              <a:t>max</a:t>
            </a:r>
            <a:r>
              <a:rPr lang="nb-NO" dirty="0"/>
              <a:t>) → setter grenser for verdier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1E309-16D4-86B1-4342-9E7A10342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02.10.2025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A1358-1D77-3F58-E54C-FC92BEB3A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A064A-7B29-FFB7-4B58-5AC17B59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02693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FC7C5-D1D9-A57F-4114-B4D530648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913F6-774A-7F47-476A-F31705884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 err="1"/>
              <a:t>analogRead</a:t>
            </a:r>
            <a:r>
              <a:rPr lang="nb-NO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5CF5D-3FEB-9ECC-4271-2FDCD788F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nb-NO" dirty="0"/>
              <a:t>https://docs.arduino.cc/tutorials/uno-rev3/AnalogReadSerial/</a:t>
            </a:r>
          </a:p>
          <a:p>
            <a:r>
              <a:rPr lang="nb-NO" b="1" dirty="0"/>
              <a:t>Hva gjør den?</a:t>
            </a:r>
            <a:br>
              <a:rPr lang="nb-NO" dirty="0"/>
            </a:br>
            <a:r>
              <a:rPr lang="nb-NO" dirty="0"/>
              <a:t>Leser en analog spenning (0–5 V) fra en pinne og gir en digital verdi mellom 0 og 1023.</a:t>
            </a:r>
          </a:p>
          <a:p>
            <a:endParaRPr lang="nb-NO" b="1" dirty="0"/>
          </a:p>
          <a:p>
            <a:r>
              <a:rPr lang="nb-NO" b="1" dirty="0"/>
              <a:t>Hvorfor bruker vi den?</a:t>
            </a:r>
            <a:br>
              <a:rPr lang="nb-NO" dirty="0"/>
            </a:br>
            <a:r>
              <a:rPr lang="nb-NO" dirty="0"/>
              <a:t>For å oversette sensorens spenning til et tall vi kan behandle i programmet.</a:t>
            </a:r>
          </a:p>
          <a:p>
            <a:endParaRPr lang="nb-NO" b="1" dirty="0"/>
          </a:p>
          <a:p>
            <a:r>
              <a:rPr lang="nb-NO" b="1" dirty="0"/>
              <a:t>Eksempel: </a:t>
            </a:r>
            <a:br>
              <a:rPr lang="nb-NO" dirty="0"/>
            </a:br>
            <a:r>
              <a:rPr lang="nb-NO" dirty="0" err="1"/>
              <a:t>int</a:t>
            </a:r>
            <a:r>
              <a:rPr lang="nb-NO" dirty="0"/>
              <a:t> </a:t>
            </a:r>
            <a:r>
              <a:rPr lang="nb-NO" dirty="0" err="1"/>
              <a:t>value</a:t>
            </a:r>
            <a:r>
              <a:rPr lang="nb-NO" dirty="0"/>
              <a:t> = </a:t>
            </a:r>
            <a:r>
              <a:rPr lang="nb-NO" dirty="0" err="1"/>
              <a:t>analogRead</a:t>
            </a:r>
            <a:r>
              <a:rPr lang="nb-NO" dirty="0"/>
              <a:t>(A0);  // leser verdi fra pin A0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DDC3C-D287-F787-32A2-BE7708436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02.10.2025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D331B-9C8B-F166-28A8-7997F204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FA430-8902-9154-A7D8-84CE37F68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47274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B2235-1A84-8C5C-BD79-110E6727C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 err="1"/>
              <a:t>map</a:t>
            </a:r>
            <a:r>
              <a:rPr lang="nb-NO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13F1A-2D83-3C88-49E6-11E842AFF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1"/>
            <a:ext cx="8336543" cy="33944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b-NO" dirty="0"/>
              <a:t>https://docs.arduino.cc/language-reference/en/functions/math/map/</a:t>
            </a:r>
          </a:p>
          <a:p>
            <a:r>
              <a:rPr lang="nb-NO" b="1" dirty="0"/>
              <a:t>Hva gjør den?</a:t>
            </a:r>
            <a:br>
              <a:rPr lang="nb-NO" dirty="0"/>
            </a:br>
            <a:r>
              <a:rPr lang="nb-NO" dirty="0"/>
              <a:t>Oversetter en verdi fra ett område til et annet.</a:t>
            </a:r>
          </a:p>
          <a:p>
            <a:endParaRPr lang="nb-NO" dirty="0"/>
          </a:p>
          <a:p>
            <a:r>
              <a:rPr lang="nb-NO" b="1" dirty="0"/>
              <a:t>Hvorfor bruker vi den? </a:t>
            </a:r>
            <a:br>
              <a:rPr lang="nb-NO" dirty="0"/>
            </a:br>
            <a:r>
              <a:rPr lang="nb-NO" dirty="0"/>
              <a:t>For å tilpasse sensorverdier til et nytt </a:t>
            </a:r>
            <a:r>
              <a:rPr lang="nb-NO" dirty="0" err="1"/>
              <a:t>skalaområde</a:t>
            </a:r>
            <a:r>
              <a:rPr lang="nb-NO" dirty="0"/>
              <a:t>, </a:t>
            </a:r>
            <a:br>
              <a:rPr lang="nb-NO" dirty="0"/>
            </a:br>
            <a:r>
              <a:rPr lang="nb-NO" dirty="0"/>
              <a:t>f.eks. 0–1023 → 0–255 (lys eller motorstyring).</a:t>
            </a:r>
            <a:br>
              <a:rPr lang="nb-NO" dirty="0"/>
            </a:br>
            <a:endParaRPr lang="nb-NO" dirty="0"/>
          </a:p>
          <a:p>
            <a:r>
              <a:rPr lang="nb-NO" b="1" dirty="0"/>
              <a:t>Eksempel: </a:t>
            </a:r>
            <a:br>
              <a:rPr lang="nb-NO" dirty="0"/>
            </a:br>
            <a:r>
              <a:rPr lang="nb-NO" dirty="0" err="1"/>
              <a:t>int</a:t>
            </a:r>
            <a:r>
              <a:rPr lang="nb-NO" dirty="0"/>
              <a:t> </a:t>
            </a:r>
            <a:r>
              <a:rPr lang="nb-NO" dirty="0" err="1"/>
              <a:t>brightness</a:t>
            </a:r>
            <a:r>
              <a:rPr lang="nb-NO" dirty="0"/>
              <a:t> = </a:t>
            </a:r>
            <a:r>
              <a:rPr lang="nb-NO" dirty="0" err="1"/>
              <a:t>map</a:t>
            </a:r>
            <a:r>
              <a:rPr lang="nb-NO" dirty="0"/>
              <a:t>(</a:t>
            </a:r>
            <a:r>
              <a:rPr lang="nb-NO" dirty="0" err="1"/>
              <a:t>value</a:t>
            </a:r>
            <a:r>
              <a:rPr lang="nb-NO" dirty="0"/>
              <a:t>, 0, 1023, 0, 255);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5A7B4-4E68-E103-5AE1-6303BBCA8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02.10.2025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233A3-6DB1-172A-154A-A8C901220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AC23D-22A0-EAA3-5D7A-0992BEF95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89761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70279-72FE-DE7A-BE80-19FA9EE75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 err="1"/>
              <a:t>constrain</a:t>
            </a:r>
            <a:r>
              <a:rPr lang="nb-NO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9C250-083B-0B84-562B-6C18995D5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nb-NO" dirty="0"/>
              <a:t>https://docs.arduino.cc/language-reference/en/functions/math/constrain/</a:t>
            </a:r>
          </a:p>
          <a:p>
            <a:r>
              <a:rPr lang="nb-NO" b="1" dirty="0"/>
              <a:t>Hva gjør den?</a:t>
            </a:r>
            <a:br>
              <a:rPr lang="nb-NO" dirty="0"/>
            </a:br>
            <a:r>
              <a:rPr lang="nb-NO" dirty="0"/>
              <a:t>Setter en verdi innenfor et definert område (klipper av verdier utenfor).</a:t>
            </a:r>
          </a:p>
          <a:p>
            <a:endParaRPr lang="nb-NO" dirty="0"/>
          </a:p>
          <a:p>
            <a:r>
              <a:rPr lang="nb-NO" b="1" dirty="0"/>
              <a:t>Hvorfor bruker vi den?</a:t>
            </a:r>
            <a:br>
              <a:rPr lang="nb-NO" dirty="0"/>
            </a:br>
            <a:r>
              <a:rPr lang="nb-NO" dirty="0"/>
              <a:t>For å sikre at vi ikke sender ugyldige eller uønskede verdier til f.eks. en LED eller motor.</a:t>
            </a:r>
            <a:br>
              <a:rPr lang="nb-NO" dirty="0"/>
            </a:br>
            <a:endParaRPr lang="nb-NO" dirty="0"/>
          </a:p>
          <a:p>
            <a:r>
              <a:rPr lang="nb-NO" b="1" dirty="0"/>
              <a:t>Eksempel:</a:t>
            </a:r>
            <a:br>
              <a:rPr lang="nb-NO" dirty="0"/>
            </a:br>
            <a:r>
              <a:rPr lang="nb-NO" dirty="0" err="1"/>
              <a:t>int</a:t>
            </a:r>
            <a:r>
              <a:rPr lang="nb-NO" dirty="0"/>
              <a:t> </a:t>
            </a:r>
            <a:r>
              <a:rPr lang="nb-NO" dirty="0" err="1"/>
              <a:t>safeValue</a:t>
            </a:r>
            <a:r>
              <a:rPr lang="nb-NO" dirty="0"/>
              <a:t> = </a:t>
            </a:r>
            <a:r>
              <a:rPr lang="nb-NO" dirty="0" err="1"/>
              <a:t>constrain</a:t>
            </a:r>
            <a:r>
              <a:rPr lang="nb-NO" dirty="0"/>
              <a:t>(</a:t>
            </a:r>
            <a:r>
              <a:rPr lang="nb-NO" dirty="0" err="1"/>
              <a:t>brightness</a:t>
            </a:r>
            <a:r>
              <a:rPr lang="nb-NO" dirty="0"/>
              <a:t>, 0, 255);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83193-8274-C4A8-444A-76EAFA2EA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02.10.2025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BCD03-8D06-8D7D-A608-597E905E4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3592D-1E77-43AE-8FCB-ECDF37FF7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40518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BCF9-81D1-2EB4-1E92-5B5FD223E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6875C-FE06-F3E8-4C8D-A8EB79A71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A76C4-3231-C26B-C183-1C943F13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02.10.2025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0B73B-425E-30D0-5B89-6C44AAFA7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9C369-2766-9165-472C-364B340F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19039099"/>
      </p:ext>
    </p:extLst>
  </p:cSld>
  <p:clrMapOvr>
    <a:masterClrMapping/>
  </p:clrMapOvr>
</p:sld>
</file>

<file path=ppt/theme/theme1.xml><?xml version="1.0" encoding="utf-8"?>
<a:theme xmlns:a="http://schemas.openxmlformats.org/drawingml/2006/main" name="HIOF-template-7.13.Presentasjonsmal-NOR-v.0.0.3">
  <a:themeElements>
    <a:clrScheme name="HIOF-palett">
      <a:dk1>
        <a:srgbClr val="101820"/>
      </a:dk1>
      <a:lt1>
        <a:srgbClr val="101820"/>
      </a:lt1>
      <a:dk2>
        <a:srgbClr val="EDEBE9"/>
      </a:dk2>
      <a:lt2>
        <a:srgbClr val="FFFFFF"/>
      </a:lt2>
      <a:accent1>
        <a:srgbClr val="3CBFAE"/>
      </a:accent1>
      <a:accent2>
        <a:srgbClr val="C76D62"/>
      </a:accent2>
      <a:accent3>
        <a:srgbClr val="457A7C"/>
      </a:accent3>
      <a:accent4>
        <a:srgbClr val="D7D2CB"/>
      </a:accent4>
      <a:accent5>
        <a:srgbClr val="978794"/>
      </a:accent5>
      <a:accent6>
        <a:srgbClr val="C0B8B0"/>
      </a:accent6>
      <a:hlink>
        <a:srgbClr val="457A7C"/>
      </a:hlink>
      <a:folHlink>
        <a:srgbClr val="3CBFAE"/>
      </a:folHlink>
    </a:clrScheme>
    <a:fontScheme name="Office klassisk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0e2b19-d22b-458d-836c-196ed8ef0578" xsi:nil="true"/>
    <lcf76f155ced4ddcb4097134ff3c332f xmlns="e84ae1cb-83da-46e9-90cf-a6223a3d62b4">
      <Terms xmlns="http://schemas.microsoft.com/office/infopath/2007/PartnerControls"/>
    </lcf76f155ced4ddcb4097134ff3c332f>
    <Bildet xmlns="e84ae1cb-83da-46e9-90cf-a6223a3d62b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18F6B0D4B41FA41BC01CD0D24188169" ma:contentTypeVersion="20" ma:contentTypeDescription="Opprett et nytt dokument." ma:contentTypeScope="" ma:versionID="b7a18621afdaa9d919b5d73324a8a37d">
  <xsd:schema xmlns:xsd="http://www.w3.org/2001/XMLSchema" xmlns:xs="http://www.w3.org/2001/XMLSchema" xmlns:p="http://schemas.microsoft.com/office/2006/metadata/properties" xmlns:ns2="e84ae1cb-83da-46e9-90cf-a6223a3d62b4" xmlns:ns3="330e2b19-d22b-458d-836c-196ed8ef0578" targetNamespace="http://schemas.microsoft.com/office/2006/metadata/properties" ma:root="true" ma:fieldsID="133c24ea7f3608032fcac58cce4224fb" ns2:_="" ns3:_="">
    <xsd:import namespace="e84ae1cb-83da-46e9-90cf-a6223a3d62b4"/>
    <xsd:import namespace="330e2b19-d22b-458d-836c-196ed8ef05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Bilde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4ae1cb-83da-46e9-90cf-a6223a3d62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0df4930c-91c5-452e-b6ab-428d5d93c6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Bildet" ma:index="26" nillable="true" ma:displayName="Bildet" ma:format="Thumbnail" ma:internalName="Bildet">
      <xsd:simpleType>
        <xsd:restriction base="dms:Unknow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0e2b19-d22b-458d-836c-196ed8ef0578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7f28dd0-eee2-4647-a0d6-6ff9ffa79036}" ma:internalName="TaxCatchAll" ma:showField="CatchAllData" ma:web="330e2b19-d22b-458d-836c-196ed8ef05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0EBD75-8E1C-48FC-9758-5998BD7A9B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0A1235-4F99-4957-98A9-279FBCDCAF1B}">
  <ds:schemaRefs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www.w3.org/XML/1998/namespace"/>
    <ds:schemaRef ds:uri="e84ae1cb-83da-46e9-90cf-a6223a3d62b4"/>
    <ds:schemaRef ds:uri="330e2b19-d22b-458d-836c-196ed8ef0578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4ED8213-7400-4310-B757-2462B42C6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4ae1cb-83da-46e9-90cf-a6223a3d62b4"/>
    <ds:schemaRef ds:uri="330e2b19-d22b-458d-836c-196ed8ef05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3221735-26b9-4eac-ad0f-4721757a50f8}" enabled="0" method="" siteId="{e3221735-26b9-4eac-ad0f-4721757a50f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HIOF-template-7.13.Presentasjonsmal-NOR-v.0.0.3.potx</Template>
  <TotalTime>14022</TotalTime>
  <Words>538</Words>
  <Application>Microsoft Office PowerPoint</Application>
  <PresentationFormat>On-screen Show (16:9)</PresentationFormat>
  <Paragraphs>82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Source Sans Pro</vt:lpstr>
      <vt:lpstr>HIOF-template-7.13.Presentasjonsmal-NOR-v.0.0.3</vt:lpstr>
      <vt:lpstr>Analog inngang og LDR</vt:lpstr>
      <vt:lpstr>Analog inngang på Arduino</vt:lpstr>
      <vt:lpstr>Minner om docs.arduino.cc/ Les mer der om funksjonene som beskrives</vt:lpstr>
      <vt:lpstr>Spenningsdeler</vt:lpstr>
      <vt:lpstr>LDR (Light Dependent Resistor)</vt:lpstr>
      <vt:lpstr>Funksjoner i Arduino</vt:lpstr>
      <vt:lpstr>analogRead()</vt:lpstr>
      <vt:lpstr>map()</vt:lpstr>
      <vt:lpstr>constrain()</vt:lpstr>
      <vt:lpstr>PowerPoint Presentation</vt:lpstr>
    </vt:vector>
  </TitlesOfParts>
  <Manager/>
  <Company>The Pitch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HIOF-template-7.13.Presentasjonsmal</dc:title>
  <dc:subject/>
  <dc:creator>Karine Strand Andresen</dc:creator>
  <cp:keywords/>
  <dc:description/>
  <cp:lastModifiedBy>Martin Arthur Andersen</cp:lastModifiedBy>
  <cp:revision>66</cp:revision>
  <dcterms:created xsi:type="dcterms:W3CDTF">2015-06-11T22:12:29Z</dcterms:created>
  <dcterms:modified xsi:type="dcterms:W3CDTF">2025-10-06T05:30:53Z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0x010100718F6B0D4B41FA41BC01CD0D24188169</vt:lpwstr>
  </property>
  <property fmtid="{D5CDD505-2E9C-101B-9397-08002B2CF9AE}" pid="3" name="MediaServiceImageTags">
    <vt:lpwstr/>
  </property>
</Properties>
</file>